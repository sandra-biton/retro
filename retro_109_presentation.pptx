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Release 10.9 Retrospective</a:t>
            </a:r>
          </a:p>
          <a:p>
            <a:pPr algn="ctr">
              <a:defRPr sz="2000">
                <a:solidFill>
                  <a:srgbClr val="BDBDBD"/>
                </a:solidFill>
              </a:defRPr>
            </a:pPr>
            <a:r>
              <a:t>RCA &amp; Action Items — Dana, Shlomi, Rajeev squads</a:t>
            </a:r>
            <a:br/>
            <a:r>
              <a:t>Timeline: Sprint 0 (Sep 30) → FF (Jan 26) → CF (Feb 17) → GA (May 13)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EC5F1"/>
                </a:solidFill>
              </a:defRPr>
            </a:pPr>
            <a:r>
              <a:t>KPI Comparison: 10.8 → 10.9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914400"/>
                <a:gridCol w="914400"/>
                <a:gridCol w="914400"/>
                <a:gridCol w="9144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10.8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10.9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Trend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Breached FF (stories)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-10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 Improved (-27%)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Breached CF (stories)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+9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Worse (+39%)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Breached CF (bugs)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➡️ Flat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Regression total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&lt;10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+45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Worse (+90%)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Regression in hardening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&lt;4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Worse (+135%)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Automation detection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12.6%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-19pp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Dropped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EC5F1"/>
                </a:solidFill>
              </a:defRPr>
            </a:pPr>
            <a:r>
              <a:t>Per-GM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1521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2926080"/>
                <a:gridCol w="29260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Dana 10.8→10.9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Shlomi 10.8→10.9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Rajeev 10.8→10.9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Breached FF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7→4 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0→10 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30→13 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Breached CF Stories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6→0 ✅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3→6 ❌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14→26 ❌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Breached CF Bugs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2→1 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2→2 ➡️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0→2 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Regression total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19→54 ❌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4→14 ❌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27→27 ➡️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Regression hardening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11→24 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1→10 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5→6 ➡️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FF/CF great</a:t>
                      </a:r>
                    </a:p>
                    <a:p>
                      <a:r>
                        <a:t>Regressions bad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All worse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FF great</a:t>
                      </a:r>
                    </a:p>
                    <a:p>
                      <a:r>
                        <a:t>CF doubled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5F1"/>
                </a:solidFill>
              </a:defRPr>
            </a:pPr>
            <a:r>
              <a:t>✅ Improvements 10.8 → 10.9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4EC96F"/>
                </a:solidFill>
              </a:defRPr>
            </a:pPr>
            <a:r>
              <a:t>FF discipline improved: 37 → 27 breaches (-27%)</a:t>
            </a:r>
          </a:p>
          <a:p>
            <a:pPr>
              <a:spcAft>
                <a:spcPts val="600"/>
              </a:spcAft>
              <a:defRPr sz="1800" b="0">
                <a:solidFill>
                  <a:srgbClr val="4EC96F"/>
                </a:solidFill>
              </a:defRPr>
            </a:pPr>
            <a:r>
              <a:t>Dana CF breach → zero stories at Code Freeze</a:t>
            </a:r>
          </a:p>
          <a:p>
            <a:pPr>
              <a:spcAft>
                <a:spcPts val="600"/>
              </a:spcAft>
              <a:defRPr sz="1800" b="0">
                <a:solidFill>
                  <a:srgbClr val="4EC96F"/>
                </a:solidFill>
              </a:defRPr>
            </a:pPr>
            <a:r>
              <a:t>Rajeev FF halved: 30 → 13</a:t>
            </a:r>
          </a:p>
          <a:p>
            <a:pPr>
              <a:spcAft>
                <a:spcPts val="600"/>
              </a:spcAft>
              <a:defRPr sz="1800" b="0">
                <a:solidFill>
                  <a:srgbClr val="4EC96F"/>
                </a:solidFill>
              </a:defRPr>
            </a:pPr>
            <a:r>
              <a:t>Apex regressions halved: 6 → 3</a:t>
            </a:r>
          </a:p>
          <a:p>
            <a:pPr>
              <a:spcAft>
                <a:spcPts val="600"/>
              </a:spcAft>
              <a:defRPr sz="1800" b="0">
                <a:solidFill>
                  <a:srgbClr val="4EC96F"/>
                </a:solidFill>
              </a:defRPr>
            </a:pPr>
            <a:r>
              <a:t>Rajeev regressions stable despite more scope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BDBDBD"/>
                </a:solidFill>
              </a:defRPr>
            </a:pPr>
            <a:r>
              <a:t>Positive pattern: upgrade testing during development (Rajeev)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37160" cy="82296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Root Cause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EC5F1"/>
                </a:solidFill>
              </a:defRPr>
            </a:pPr>
            <a:r>
              <a:t>Regression Total: 50 → 95 (+90%) — Top Contributors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1338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"/>
                <a:gridCol w="731520"/>
                <a:gridCol w="731520"/>
                <a:gridCol w="6858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Squad (GM)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10.8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10.9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Nils (Dana)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+31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React Migration — all new bugs = regressions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GreenBoat (Rajeev)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Upgrade scenarios, EF cache, code conflicts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Driver (Shlomi)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VME/VAIO — low quality dev testing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Azure (Dana)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+3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GPv2 performance, recovery stuck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VRA (Shlomi)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Scale issues at large setups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Apex (Rajeev)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-3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 Improved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5F1"/>
                </a:solidFill>
              </a:defRPr>
            </a:pPr>
            <a:r>
              <a:t>FF &amp; CF Breach Root 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FF Breaches (27 total):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Cyber Resilience (7): Late requirements — design approved end Sprint 4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Apex Legends (7): Stories in RFT but QA bandwidth limited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GreenBoat (4): Dependencies on Linux migration + waiver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Nils (2): FE tweaks enabled late (same as 10.8!)</a:t>
            </a:r>
          </a:p>
          <a:p>
            <a:pPr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E74C3C"/>
                </a:solidFill>
              </a:defRPr>
            </a:pPr>
            <a:r>
              <a:t>CF Breaches (32 stories):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GreenBoat (13): Public Cloud test setup not ready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Apex Legends (12): Testing started late, stories stuck in QA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Cyber Resilience (4): LTS late start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Driver (2): Urgent HF + HV stabilization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5F1"/>
                </a:solidFill>
              </a:defRPr>
            </a:pPr>
            <a:r>
              <a:t>Automation Detection: 32% → 12.6%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74C3C"/>
                </a:solidFill>
              </a:defRPr>
            </a:pPr>
            <a:r>
              <a:t>Most concerning metric — target is +20% improvement, we went backwards</a:t>
            </a:r>
          </a:p>
          <a:p>
            <a:pPr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Why?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New bugs concentrated in React (Nils) and VME (Driver)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These areas have LOW automation coverage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React has Cypress but insufficient for complex scenarios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VME/Driver has minimal automation — 'N/A' per Shlomi</a:t>
            </a:r>
          </a:p>
          <a:p>
            <a:pPr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BDBDBD"/>
                </a:solidFill>
              </a:defRPr>
            </a:pPr>
            <a:r>
              <a:t>Impact: 12 of 95 bugs found by automation (vs 16/50 in 10.8)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37160" cy="82296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QA-Dev Interface:</a:t>
            </a:r>
            <a:br/>
            <a:r>
              <a:t>Ready For Testing Backlog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EC5F1"/>
                </a:solidFill>
              </a:defRPr>
            </a:pPr>
            <a:r>
              <a:t>RFT Backlog Growth: 75 → 196 items (+161%)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Items in RFT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10.9 Sprint 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10.9 Sprint 4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+12%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10.9 Feature Freeze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10.9 Code Freeze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Consumed during hardening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10.10 Sprint 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Immediately refilled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10.10 Sprint 2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 Spike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Today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196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+161% from baseline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5F1"/>
                </a:solidFill>
              </a:defRPr>
            </a:pPr>
            <a:r>
              <a:t>RFT Backlog: Per Squad &amp; 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74C3C"/>
                </a:solidFill>
              </a:defRPr>
            </a:pPr>
            <a:r>
              <a:t>Current: 196 items. 75% older than 30 days. 55 items &gt; 3 months.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4EC5F1"/>
                </a:solidFill>
              </a:defRPr>
            </a:pPr>
            <a:r>
              <a:t>Top squads: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Nils (Dana): 50 items, avg 71 days old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Opus (Dana): 31 items, avg 57 days old</a:t>
            </a:r>
          </a:p>
          <a:p>
            <a:pPr>
              <a:spcAft>
                <a:spcPts val="600"/>
              </a:spcAft>
              <a:defRPr sz="1600" b="0">
                <a:solidFill>
                  <a:srgbClr val="F39C12"/>
                </a:solidFill>
              </a:defRPr>
            </a:pPr>
            <a:r>
              <a:t>  • Azure (Dana): 25 items, avg 97 days old ⚠️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Apex Legends (Rajeev): 16 items, avg 90 days old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• GreenBoat (Rajeev): items in queue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BDBDBD"/>
                </a:solidFill>
              </a:defRPr>
            </a:pPr>
            <a:r>
              <a:t>10.8 FF vs 10.9 FF: RFT grew from 39 → 64 items (+64%)</a:t>
            </a:r>
          </a:p>
          <a:p>
            <a:pPr>
              <a:spcAft>
                <a:spcPts val="600"/>
              </a:spcAft>
              <a:defRPr sz="1600" b="0">
                <a:solidFill>
                  <a:srgbClr val="BDBDBD"/>
                </a:solidFill>
              </a:defRPr>
            </a:pPr>
            <a:r>
              <a:t>Stuck &gt; 3 weeks: doubled from 3 →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37160" cy="82296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Epic &amp; Story Lifecycle</a:t>
            </a:r>
            <a:br/>
            <a:r>
              <a:t>SLA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EC5F1"/>
                </a:solidFill>
              </a:defRPr>
            </a:pPr>
            <a:r>
              <a:t>Story Active Cycle Time (In Progress → Completed)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1828800"/>
                <a:gridCol w="18288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All (n=61)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Dana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Shlomi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Rajeev ⚠️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Dev Time (IP → RFT)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27d avg / 12d med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7d / 5d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11d / 7d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42d / 15d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QA Queue (RFT → Testing)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25d avg / 14d med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15d / 19d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10d / 6d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44d / 29d ⚠️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QA Execution (Testing → Done)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15d avg / 3d med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2d / 0d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6d / 2d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33d / 28d ⚠️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Total Active Cycle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56d avg / 27d med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18d / 11d ✅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24d / 21d ✅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90d / 74d ❌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EC5F1"/>
                </a:solidFill>
              </a:defRPr>
            </a:pPr>
            <a:r>
              <a:t>Story Lifecycle — Per Squad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1887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Squad (GM)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Total Active (avg/med)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QA Queue (avg/med)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Concern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GreenBoat (Rajeev)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95d / 80d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45d / 29d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 Longest cycle + QA queue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Apex Legends (Rajeev)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83d / 27d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41d / 26d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⚠️ High variability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Cyber Resilience (Shlomi)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24d / 24d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11d / 6d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 Healthy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Cloud Azure (Dana)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19d / 19d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16d / 19d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 Healthy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5F1"/>
                </a:solidFill>
              </a:defRPr>
            </a:pPr>
            <a:r>
              <a:t>Epic Lifecycle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BDBDBD"/>
                </a:solidFill>
              </a:defRPr>
            </a:pPr>
            <a:r>
              <a:t>Workflow: New → Ready For Dev → In Development → Ready To Ship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4EC5F1"/>
                </a:solidFill>
              </a:defRPr>
            </a:pPr>
            <a:r>
              <a:t>FR Phase (New → Ready For Development):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Overall: avg 71d, median 21d (n=11)</a:t>
            </a:r>
          </a:p>
          <a:p>
            <a:pPr>
              <a:spcAft>
                <a:spcPts val="600"/>
              </a:spcAft>
              <a:defRPr sz="1600" b="0">
                <a:solidFill>
                  <a:srgbClr val="F39C12"/>
                </a:solidFill>
              </a:defRPr>
            </a:pPr>
            <a:r>
              <a:t>  Shlomi: avg 94d — late requirement injection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Rajeev: avg 57d, median 35d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4EC5F1"/>
                </a:solidFill>
              </a:defRPr>
            </a:pPr>
            <a:r>
              <a:t>Planning Wait (Ready For Dev → In Development):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Overall: avg 43d, median 30d (n=10)</a:t>
            </a:r>
          </a:p>
          <a:p>
            <a:pPr>
              <a:spcAft>
                <a:spcPts val="600"/>
              </a:spcAft>
              <a:defRPr sz="1600" b="0">
                <a:solidFill>
                  <a:srgbClr val="F39C12"/>
                </a:solidFill>
              </a:defRPr>
            </a:pPr>
            <a:r>
              <a:t>  Rajeev: avg 50d — epics sit idle ~7 weeks after FR done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Shlomi: avg 26d — reasonable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4EC96F"/>
                </a:solidFill>
              </a:defRPr>
            </a:pPr>
            <a:r>
              <a:t>Design stories (once started): avg 31d — not a bottleneck 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5F1"/>
                </a:solidFill>
              </a:defRPr>
            </a:pPr>
            <a:r>
              <a:t>Key Findings: Where Does Time Go?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E74C3C"/>
                </a:solidFill>
              </a:defRPr>
            </a:pPr>
            <a:r>
              <a:t>1. QA Queue is #1 time sink for Rajeev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 44 days avg waiting in RFT. GreenBoat=45d, Apex=41d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E74C3C"/>
                </a:solidFill>
              </a:defRPr>
            </a:pPr>
            <a:r>
              <a:t>2. Rajeev's cycle is 4-5× longer than Dana/Shlomi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 90d vs 18-24d. Long dev + long QA queue + long QA execution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3. FR Phase avg 71 days at epic level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 Shlomi's epics avg 94d. Requirements not locked early enough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4. Planning idle after FR: 43 days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 Epics ready for dev but nobody picks them up for 6 weeks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4EC96F"/>
                </a:solidFill>
              </a:defRPr>
            </a:pPr>
            <a:r>
              <a:t>5. Dana &amp; Shlomi story cycles are healthy (18-24d)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37160" cy="82296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10.8 Retro Cross-Reference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EC5F1"/>
                </a:solidFill>
              </a:defRPr>
            </a:pPr>
            <a:r>
              <a:t>10.8 Findings: What Was Actually Addressed?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10.8 Finding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10.9 Result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Don't enable FE tweaks late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Same issue, Nils 16→47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NOT ADDRESSED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React side-by-side comparison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Not done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NOT ADDRESSED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Increase Cypress coverage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Rate dropped 32%→12.6%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NOT ADDRESSED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Clarify cross-team ownership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Same GB/AWS blame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NOT ADDRESSED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Upgrade test during dev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Rajeev regressions FLAT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 ADDRESSED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Scale setups lacking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Still not ready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NOT ADDRESSED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ZIC timeline different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Under discussion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⏳ IN PROGRESS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Enhance ZIC quality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Cyber FF breach +7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❌ NOT ADDRESSED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5F1"/>
                </a:solidFill>
              </a:defRPr>
            </a:pPr>
            <a:r>
              <a:t>10.8 → 10.9 Improvement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3600" b="1">
                <a:solidFill>
                  <a:srgbClr val="E74C3C"/>
                </a:solidFill>
              </a:defRPr>
            </a:pPr>
            <a:r>
              <a:t>1 / 8  improvements implemented</a:t>
            </a:r>
          </a:p>
          <a:p>
            <a:pPr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800" b="0">
                <a:solidFill>
                  <a:srgbClr val="F1C40F"/>
                </a:solidFill>
              </a:defRPr>
            </a:pPr>
            <a:r>
              <a:t>1 / 8  in progress</a:t>
            </a:r>
          </a:p>
          <a:p>
            <a:pPr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800" b="0">
                <a:solidFill>
                  <a:srgbClr val="E74C3C"/>
                </a:solidFill>
              </a:defRPr>
            </a:pPr>
            <a:r>
              <a:t>6 / 8  not addressed</a:t>
            </a:r>
          </a:p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We must break this pattern in 10.10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37160" cy="82296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Action Items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5F1"/>
                </a:solidFill>
              </a:defRPr>
            </a:pPr>
            <a:r>
              <a:t>Dana Mittelman — Priority: REGRESSION (54 bugs)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D1: Enforce tweak activation policy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</a:defRPr>
            </a:pPr>
            <a:r>
              <a:t>    No FE tweak after Sprint 5. Dev+QA sign-off required.</a:t>
            </a:r>
          </a:p>
          <a:p>
            <a:pPr>
              <a:spcAft>
                <a:spcPts val="600"/>
              </a:spcAft>
              <a:defRPr sz="1400" b="0">
                <a:solidFill>
                  <a:srgbClr val="4EC96F"/>
                </a:solidFill>
              </a:defRPr>
            </a:pPr>
            <a:r>
              <a:t>    Target: Zero regressions from late-activated tweaks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D2: React Migration quality gate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</a:defRPr>
            </a:pPr>
            <a:r>
              <a:t>    Side-by-side visual comparison with AngularJS before merge</a:t>
            </a:r>
          </a:p>
          <a:p>
            <a:pPr>
              <a:spcAft>
                <a:spcPts val="600"/>
              </a:spcAft>
              <a:defRPr sz="1400" b="0">
                <a:solidFill>
                  <a:srgbClr val="4EC96F"/>
                </a:solidFill>
              </a:defRPr>
            </a:pPr>
            <a:r>
              <a:t>    Target: Nils regressions &lt; 20 (down from 47)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D3: Cypress coverage plan for React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</a:defRPr>
            </a:pPr>
            <a:r>
              <a:t>    Top 5 high-traffic pages covered by Sprint 3</a:t>
            </a:r>
          </a:p>
          <a:p>
            <a:pPr>
              <a:spcAft>
                <a:spcPts val="600"/>
              </a:spcAft>
              <a:defRPr sz="1400" b="0">
                <a:solidFill>
                  <a:srgbClr val="4EC96F"/>
                </a:solidFill>
              </a:defRPr>
            </a:pPr>
            <a:r>
              <a:t>    Target: Automation detection &gt; 25% for Nils bugs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D4: Decouple Linux Migration tool from RC</a:t>
            </a:r>
          </a:p>
          <a:p>
            <a:pPr>
              <a:spcAft>
                <a:spcPts val="600"/>
              </a:spcAft>
              <a:defRPr sz="1400" b="0">
                <a:solidFill>
                  <a:srgbClr val="4EC96F"/>
                </a:solidFill>
              </a:defRPr>
            </a:pPr>
            <a:r>
              <a:t>    Target: Linux migration regressions moved to pre-CF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5F1"/>
                </a:solidFill>
              </a:defRPr>
            </a:pPr>
            <a:r>
              <a:t>Shlomi Apel — Priority: ALL METRICS REGRESSED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S1: Driver squad — mandatory dev self-testing checklist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</a:defRPr>
            </a:pPr>
            <a:r>
              <a:t>    5 basic scenarios per feature before 'Ready for Testing'</a:t>
            </a:r>
          </a:p>
          <a:p>
            <a:pPr>
              <a:spcAft>
                <a:spcPts val="600"/>
              </a:spcAft>
              <a:defRPr sz="1400" b="0">
                <a:solidFill>
                  <a:srgbClr val="4EC96F"/>
                </a:solidFill>
              </a:defRPr>
            </a:pPr>
            <a:r>
              <a:t>    Target: Driver regressions &lt; 4 (down from 8)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S2: HV testing setup always-available policy</a:t>
            </a:r>
          </a:p>
          <a:p>
            <a:pPr>
              <a:spcAft>
                <a:spcPts val="600"/>
              </a:spcAft>
              <a:defRPr sz="1400" b="0">
                <a:solidFill>
                  <a:srgbClr val="4EC96F"/>
                </a:solidFill>
              </a:defRPr>
            </a:pPr>
            <a:r>
              <a:t>    Target: Zero CF breaches from setup unavailability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S3: Scale testing capacity — escalate to VP/Infra</a:t>
            </a:r>
          </a:p>
          <a:p>
            <a:pPr>
              <a:spcAft>
                <a:spcPts val="600"/>
              </a:spcAft>
              <a:defRPr sz="1400" b="0">
                <a:solidFill>
                  <a:srgbClr val="4EC96F"/>
                </a:solidFill>
              </a:defRPr>
            </a:pPr>
            <a:r>
              <a:t>    Target: Scale tests parallel to dev (not sequential)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S4: Cyber Resilience — requirements locked by Sprint 2</a:t>
            </a:r>
          </a:p>
          <a:p>
            <a:pPr>
              <a:spcAft>
                <a:spcPts val="600"/>
              </a:spcAft>
              <a:defRPr sz="1400" b="0">
                <a:solidFill>
                  <a:srgbClr val="4EC96F"/>
                </a:solidFill>
              </a:defRPr>
            </a:pPr>
            <a:r>
              <a:t>    Target: Zero FF breaches from late requirements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S5: VRA scale checkpoint at Sprint 4</a:t>
            </a:r>
          </a:p>
          <a:p>
            <a:pPr>
              <a:spcAft>
                <a:spcPts val="600"/>
              </a:spcAft>
              <a:defRPr sz="1400" b="0">
                <a:solidFill>
                  <a:srgbClr val="4EC96F"/>
                </a:solidFill>
              </a:defRPr>
            </a:pPr>
            <a:r>
              <a:t>    Target: VRA P1 scale regressions = 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5F1"/>
                </a:solidFill>
              </a:defRPr>
            </a:pPr>
            <a:r>
              <a:t>Rajeev Srivastav — Priority: CF BREACH + QA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R1: GreenBoat — stabilize test env BEFORE Sprint 5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</a:defRPr>
            </a:pPr>
            <a:r>
              <a:t>    If not ready by Sprint 5, descope dependent features</a:t>
            </a:r>
          </a:p>
          <a:p>
            <a:pPr>
              <a:spcAft>
                <a:spcPts val="600"/>
              </a:spcAft>
              <a:defRPr sz="1400" b="0">
                <a:solidFill>
                  <a:srgbClr val="4EC96F"/>
                </a:solidFill>
              </a:defRPr>
            </a:pPr>
            <a:r>
              <a:t>    Target: GB CF breach &lt; 5 (down from 13)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R2: Cross-team impact ownership contract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</a:defRPr>
            </a:pPr>
            <a:r>
              <a:t>    Signed ownership doc at design phase for cross-team changes</a:t>
            </a:r>
          </a:p>
          <a:p>
            <a:pPr>
              <a:spcAft>
                <a:spcPts val="600"/>
              </a:spcAft>
              <a:defRPr sz="1400" b="0">
                <a:solidFill>
                  <a:srgbClr val="4EC96F"/>
                </a:solidFill>
              </a:defRPr>
            </a:pPr>
            <a:r>
              <a:t>    Target: Zero cross-team blame escalations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R3: Apex Legends — QA bandwidth reservation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</a:defRPr>
            </a:pPr>
            <a:r>
              <a:t>    Pre-allocate QA capacity in Sprint 5-6</a:t>
            </a:r>
          </a:p>
          <a:p>
            <a:pPr>
              <a:spcAft>
                <a:spcPts val="600"/>
              </a:spcAft>
              <a:defRPr sz="1400" b="0">
                <a:solidFill>
                  <a:srgbClr val="4EC96F"/>
                </a:solidFill>
              </a:defRPr>
            </a:pPr>
            <a:r>
              <a:t>    Target: Zero FF breaches from 'ready but not tested'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R4: Upgrade regression gate in CI</a:t>
            </a:r>
          </a:p>
          <a:p>
            <a:pPr>
              <a:spcAft>
                <a:spcPts val="600"/>
              </a:spcAft>
              <a:defRPr sz="1400" b="0">
                <a:solidFill>
                  <a:srgbClr val="4EC96F"/>
                </a:solidFill>
              </a:defRPr>
            </a:pPr>
            <a:r>
              <a:t>    Target: Upgrade regressions &lt;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5F1"/>
                </a:solidFill>
              </a:defRPr>
            </a:pPr>
            <a:r>
              <a:t>Org-Level Actions (Sandra)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O1: Automation investment plan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</a:defRPr>
            </a:pPr>
            <a:r>
              <a:t>    Dedicated automation sprint per GM. Target: &gt; 25% rate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O2: Tweak activation = formal release milestone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</a:defRPr>
            </a:pPr>
            <a:r>
              <a:t>    Jira workflow step by Sprint 5. Measurable.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O3: ZIC timeline decision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</a:defRPr>
            </a:pPr>
            <a:r>
              <a:t>    Same FF/CF dates or different milestones? Decide now.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O4: Mid-release regression checkpoint (Sprint 4)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</a:defRPr>
            </a:pPr>
            <a:r>
              <a:t>    If any squad &gt; 5 regressions by Sprint 4 → remediation plan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L1: RFT WIP limit per squad (max 15 items)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</a:defRPr>
            </a:pPr>
            <a:r>
              <a:t>    Target: RFT backlog &lt; 100 at FF (down from 196)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L5: Rajeev QA queue SLA: max 14 days in RFT</a:t>
            </a:r>
          </a:p>
          <a:p>
            <a:pPr>
              <a:spcAft>
                <a:spcPts val="600"/>
              </a:spcAft>
              <a:defRPr sz="1400" b="0">
                <a:solidFill>
                  <a:srgbClr val="BDBDBD"/>
                </a:solidFill>
              </a:defRPr>
            </a:pPr>
            <a:r>
              <a:t>    Current: 44d avg. Investigate QA capacity gap.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5F1"/>
                </a:solidFill>
              </a:defRPr>
            </a:pPr>
            <a:r>
              <a:t>Jira Links — Drill Down &amp; Analyze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4EC5F1"/>
                </a:solidFill>
              </a:defRPr>
            </a:pPr>
            <a:r>
              <a:t>Dashboard &amp; Filters:</a:t>
            </a:r>
          </a:p>
          <a:p>
            <a:pPr>
              <a:spcAft>
                <a:spcPts val="600"/>
              </a:spcAft>
              <a:defRPr sz="1300" b="0">
                <a:solidFill>
                  <a:srgbClr val="BDBDBD"/>
                </a:solidFill>
              </a:defRPr>
            </a:pPr>
            <a:r>
              <a:t>  • Dashboard: https://zerto.atlassian.net/jira/dashboards/10405</a:t>
            </a:r>
          </a:p>
          <a:p>
            <a:pPr>
              <a:spcAft>
                <a:spcPts val="600"/>
              </a:spcAft>
              <a:defRPr sz="1300" b="0">
                <a:solidFill>
                  <a:srgbClr val="BDBDBD"/>
                </a:solidFill>
              </a:defRPr>
            </a:pPr>
            <a:r>
              <a:t>  • FF Breach: https://zerto.atlassian.net/issues/?filter=21636</a:t>
            </a:r>
          </a:p>
          <a:p>
            <a:pPr>
              <a:spcAft>
                <a:spcPts val="600"/>
              </a:spcAft>
              <a:defRPr sz="1300" b="0">
                <a:solidFill>
                  <a:srgbClr val="BDBDBD"/>
                </a:solidFill>
              </a:defRPr>
            </a:pPr>
            <a:r>
              <a:t>  • CF Stories: https://zerto.atlassian.net/issues/?filter=21637</a:t>
            </a:r>
          </a:p>
          <a:p>
            <a:pPr>
              <a:spcAft>
                <a:spcPts val="600"/>
              </a:spcAft>
              <a:defRPr sz="1300" b="0">
                <a:solidFill>
                  <a:srgbClr val="BDBDBD"/>
                </a:solidFill>
              </a:defRPr>
            </a:pPr>
            <a:r>
              <a:t>  • CF Bugs: https://zerto.atlassian.net/issues/?filter=21638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4EC5F1"/>
                </a:solidFill>
              </a:defRPr>
            </a:pPr>
            <a:r>
              <a:t>Regressions per Squad (10.9):</a:t>
            </a:r>
          </a:p>
          <a:p>
            <a:pPr>
              <a:spcAft>
                <a:spcPts val="600"/>
              </a:spcAft>
              <a:defRPr sz="1300" b="0">
                <a:solidFill>
                  <a:srgbClr val="BDBDBD"/>
                </a:solidFill>
              </a:defRPr>
            </a:pPr>
            <a:r>
              <a:t>  • Nils (47): Squad - Eng - Nils + affectedVersion=10.9 + Regression=Yes</a:t>
            </a:r>
          </a:p>
          <a:p>
            <a:pPr>
              <a:spcAft>
                <a:spcPts val="600"/>
              </a:spcAft>
              <a:defRPr sz="1300" b="0">
                <a:solidFill>
                  <a:srgbClr val="BDBDBD"/>
                </a:solidFill>
              </a:defRPr>
            </a:pPr>
            <a:r>
              <a:t>  • GreenBoat (17): Squad GreenBoat + affectedVersion=10.9 + Regression=Yes</a:t>
            </a:r>
          </a:p>
          <a:p>
            <a:pPr>
              <a:spcAft>
                <a:spcPts val="600"/>
              </a:spcAft>
              <a:defRPr sz="1300" b="0">
                <a:solidFill>
                  <a:srgbClr val="BDBDBD"/>
                </a:solidFill>
              </a:defRPr>
            </a:pPr>
            <a:r>
              <a:t>  • Driver (8): Squad Driver + affectedVersion=10.9 + Regression=Yes</a:t>
            </a:r>
          </a:p>
          <a:p>
            <a:pPr>
              <a:spcAft>
                <a:spcPts val="600"/>
              </a:spcAft>
              <a:defRPr sz="1300" b="0">
                <a:solidFill>
                  <a:srgbClr val="BDBDBD"/>
                </a:solidFill>
              </a:defRPr>
            </a:pPr>
            <a:r>
              <a:t>  • Azure (6): Squad Cloud Azure + affectedVersion=10.9 + Regression=Yes</a:t>
            </a:r>
          </a:p>
          <a:p>
            <a:pPr>
              <a:spcAft>
                <a:spcPts val="600"/>
              </a:spcAft>
              <a:defRPr sz="1300" b="0">
                <a:solidFill>
                  <a:srgbClr val="BDBDBD"/>
                </a:solidFill>
              </a:defRPr>
            </a:pPr>
            <a:r>
              <a:t>  • VRA (5): Squad VRA + affectedVersion=10.9 + Regression=Yes</a:t>
            </a:r>
          </a:p>
          <a:p>
            <a:pPr>
              <a:spcAft>
                <a:spcPts val="600"/>
              </a:spcAft>
              <a:defRPr sz="1300" b="0">
                <a:solidFill>
                  <a:srgbClr val="BDBDBD"/>
                </a:solidFill>
              </a:defRPr>
            </a:pPr>
            <a:r>
              <a:t>  • Apex (3): Squad Apex Legends + affectedVersion=10.9 + Regression=Yes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4EC5F1"/>
                </a:solidFill>
              </a:defRPr>
            </a:pPr>
            <a:r>
              <a:t>All 10.9 Regressions:</a:t>
            </a:r>
          </a:p>
          <a:p>
            <a:pPr>
              <a:spcAft>
                <a:spcPts val="600"/>
              </a:spcAft>
              <a:defRPr sz="1300" b="0">
                <a:solidFill>
                  <a:srgbClr val="BDBDBD"/>
                </a:solidFill>
              </a:defRPr>
            </a:pPr>
            <a:r>
              <a:t>  • affectedVersion=10.9 AND Regression=Yes AND status not in (Obsolete)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EC5F1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4EC96F"/>
                </a:solidFill>
              </a:defRPr>
            </a:pPr>
            <a:r>
              <a:t>What went right: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FF discipline improved (-27%), Dana CF→zero, Rajeev FF halved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E74C3C"/>
                </a:solidFill>
              </a:defRPr>
            </a:pPr>
            <a:r>
              <a:t>What went wrong: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Regressions +90%, CF +39%, Automation rate halved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6/8 improvements from 10.8 NOT addressed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F39C12"/>
                </a:solidFill>
              </a:defRPr>
            </a:pPr>
            <a:r>
              <a:t>Root causes: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React/Nils tweaks, QA queue bottleneck (Rajeev), late requirements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4EC5F1"/>
                </a:solidFill>
              </a:defRPr>
            </a:pPr>
            <a:r>
              <a:t>For 10.10 — non-negotiables: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1. No tweak activation after Sprint 5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2. RFT WIP limits enforced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3. Mid-release checkpoint at Sprint 4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4. QA capacity aligned to dev output (esp. Rajeev squads)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