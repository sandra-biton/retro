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zerto.atlassian.net/jira/dashboards/15285" TargetMode="External"/><Relationship Id="rId3" Type="http://schemas.openxmlformats.org/officeDocument/2006/relationships/hyperlink" Target="https://zerto.atlassian.net/issues/?filter=21636" TargetMode="External"/><Relationship Id="rId4" Type="http://schemas.openxmlformats.org/officeDocument/2006/relationships/hyperlink" Target="https://zerto.atlassian.net/issues/?filter=21637" TargetMode="External"/><Relationship Id="rId5" Type="http://schemas.openxmlformats.org/officeDocument/2006/relationships/hyperlink" Target="https://zerto.atlassian.net/issues/?filter=21638" TargetMode="External"/><Relationship Id="rId6" Type="http://schemas.openxmlformats.org/officeDocument/2006/relationships/hyperlink" Target="https://zerto.atlassian.net/issues/?jql=%22Owning%20Team/Squad%5BGroup%20Picker%20%28single%20group%29%5D%22%20%3D%20%22Squad%20-%20Eng%20-%20Nils%22%20AND%20affectedVersion%20%3D%2010.9%20AND%20%22Regression%3F%5BDropdown%5D%22%20%3D%20Yes%20AND%20status%20not%20in%20%28Obsolete%29" TargetMode="External"/><Relationship Id="rId7" Type="http://schemas.openxmlformats.org/officeDocument/2006/relationships/hyperlink" Target="https://zerto.atlassian.net/issues/?jql=%22Owning%20Team/Squad%5BGroup%20Picker%20%28single%20group%29%5D%22%20%3D%20%22Squad%20GreenBoat%22%20AND%20affectedVersion%20%3D%2010.9%20AND%20%22Regression%3F%5BDropdown%5D%22%20%3D%20Yes%20AND%20status%20not%20in%20%28Obsolete%29" TargetMode="External"/><Relationship Id="rId8" Type="http://schemas.openxmlformats.org/officeDocument/2006/relationships/hyperlink" Target="https://zerto.atlassian.net/issues/?jql=%22Owning%20Team/Squad%5BGroup%20Picker%20%28single%20group%29%5D%22%20%3D%20%22Squad%20Cloud%20Compliance%22%20AND%20affectedVersion%20%3D%2010.9%20AND%20%22Regression%3F%5BDropdown%5D%22%20%3D%20Yes%20AND%20status%20not%20in%20%28Obsolete%29" TargetMode="External"/><Relationship Id="rId9" Type="http://schemas.openxmlformats.org/officeDocument/2006/relationships/hyperlink" Target="https://zerto.atlassian.net/issues/?jql=%22Owning%20Team/Squad%5BGroup%20Picker%20%28single%20group%29%5D%22%20%3D%20%22Squad%20Driver%22%20AND%20affectedVersion%20%3D%2010.9%20AND%20%22Regression%3F%5BDropdown%5D%22%20%3D%20Yes%20AND%20status%20not%20in%20%28Obsolete%29" TargetMode="External"/><Relationship Id="rId10" Type="http://schemas.openxmlformats.org/officeDocument/2006/relationships/hyperlink" Target="https://zerto.atlassian.net/issues/?jql=%22Owning%20Team/Squad%5BGroup%20Picker%20%28single%20group%29%5D%22%20%3D%20%22Squad%20VRA%22%20AND%20affectedVersion%20%3D%2010.9%20AND%20%22Regression%3F%5BDropdown%5D%22%20%3D%20Yes%20AND%20status%20not%20in%20%28Obsolete%29" TargetMode="External"/><Relationship Id="rId11" Type="http://schemas.openxmlformats.org/officeDocument/2006/relationships/hyperlink" Target="https://zerto.atlassian.net/issues/?jql=%22Owning%20Team/Squad%5BGroup%20Picker%20%28single%20group%29%5D%22%20%3D%20%22Squad%20Cloud%20Azure%22%20AND%20affectedVersion%20%3D%2010.9%20AND%20%22Regression%3F%5BDropdown%5D%22%20%3D%20Yes%20AND%20status%20not%20in%20%28Obsolete%29" TargetMode="External"/><Relationship Id="rId12" Type="http://schemas.openxmlformats.org/officeDocument/2006/relationships/hyperlink" Target="https://zerto.atlassian.net/issues/?jql=%22Owning%20Team/Squad%5BGroup%20Picker%20%28single%20group%29%5D%22%20%3D%20%22Squad%20Apex%20Legends%22%20AND%20affectedVersion%20%3D%2010.9%20AND%20%22Regression%3F%5BDropdown%5D%22%20%3D%20Yes%20AND%20status%20not%20in%20%28Obsolete%29" TargetMode="External"/><Relationship Id="rId13" Type="http://schemas.openxmlformats.org/officeDocument/2006/relationships/hyperlink" Target="https://zerto.atlassian.net/issues/?jql=%22Owning%20Team/Squad%5BGroup%20Picker%20%28single%20group%29%5D%22%20%3D%20%22Squad%20Mavka%22%20AND%20affectedVersion%20%3D%2010.9%20AND%20%22Regression%3F%5BDropdown%5D%22%20%3D%20Yes%20AND%20status%20not%20in%20%28Obsolete%29" TargetMode="External"/><Relationship Id="rId14" Type="http://schemas.openxmlformats.org/officeDocument/2006/relationships/hyperlink" Target="https://zerto.atlassian.net/issues/?jql=%22Owning%20Team/Squad%5BGroup%20Picker%20%28single%20group%29%5D%22%20%3D%20%22Squad%20AI%20Agents%22%20AND%20affectedVersion%20%3D%2010.9%20AND%20%22Regression%3F%5BDropdown%5D%22%20%3D%20Yes%20AND%20status%20not%20in%20%28Obsolete%29" TargetMode="External"/><Relationship Id="rId15" Type="http://schemas.openxmlformats.org/officeDocument/2006/relationships/hyperlink" Target="https://zerto.atlassian.net/issues/?jql=%22Owning%20Team/Squad%5BGroup%20Picker%20%28single%20group%29%5D%22%20%3D%20%22Squad%20Cloud%20Opus%22%20AND%20affectedVersion%20%3D%2010.9%20AND%20%22Regression%3F%5BDropdown%5D%22%20%3D%20Yes%20AND%20status%20not%20in%20%28Obsolete%29" TargetMode="External"/><Relationship Id="rId16" Type="http://schemas.openxmlformats.org/officeDocument/2006/relationships/hyperlink" Target="https://zerto.atlassian.net/issues/?jql=%22Owning%20Team/Squad%5BGroup%20Picker%20%28single%20group%29%5D%22%20%3D%20%22Squad%20Cyber%20Resilience%22%20AND%20affectedVersion%20%3D%2010.9%20AND%20%22Regression%3F%5BDropdown%5D%22%20%3D%20Yes%20AND%20status%20not%20in%20%28Obsolete%29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Release 10.9 Retrospective</a:t>
            </a:r>
          </a:p>
          <a:p>
            <a:pPr algn="ctr">
              <a:defRPr sz="2000">
                <a:solidFill>
                  <a:srgbClr val="BDBDBD"/>
                </a:solidFill>
              </a:defRPr>
            </a:pPr>
            <a:r>
              <a:t>RCA &amp; Action Items — Dana, Shlomi, Rajeev squads</a:t>
            </a:r>
            <a:br/>
            <a:r>
              <a:t>Timeline: Sprint 0 (Sep 30) → FF (Jan 26) → CF (Feb 17) → GA (May 13)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4EC5F1"/>
                </a:solidFill>
              </a:defRPr>
            </a:pPr>
            <a:r>
              <a:t>KPI Comparison: 10.8 → 10.9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005840"/>
          <a:ext cx="105156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914400"/>
                <a:gridCol w="914400"/>
                <a:gridCol w="914400"/>
                <a:gridCol w="914400"/>
                <a:gridCol w="3657600"/>
              </a:tblGrid>
              <a:tr h="36576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KPI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10.8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10.9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Trend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Breached FF (stories)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37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25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-12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✅ Improved (-32%)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Breached CF (stories)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23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36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+13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❌ Worse (+57%)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Breached CF (bugs)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+2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❌ Worse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Regression total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&lt;10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50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152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+102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❌ Worse (+204%)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Regression in hardening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&lt;4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17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60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+43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❌ Worse (+253%)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Automation detection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+20%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32%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TBD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❌ Dropped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4EC5F1"/>
                </a:solidFill>
              </a:defRPr>
            </a:pPr>
            <a:r>
              <a:t>Per-GM Breakdown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005840"/>
          <a:ext cx="115214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926080"/>
                <a:gridCol w="2926080"/>
                <a:gridCol w="2926080"/>
              </a:tblGrid>
              <a:tr h="36576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Dana 10.8→10.9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Shlomi 10.8→10.9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Rajeev 10.8→10.9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Breached FF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7→6 ✅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0→8 ❌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30→11 ✅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Breached CF Stories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6→2 ✅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3→9 ❌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14→25 ❌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Breached CF Bugs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2→2 ➡️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2→2 ➡️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0→2 ❌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Regression total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19→95 ❌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4→27 ❌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27→30 ❌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Regression hardening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11→37 ❌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1→17 ❌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5→6 ➡️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Verdict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FF/CF improved</a:t>
                      </a:r>
                    </a:p>
                    <a:p>
                      <a:r>
                        <a:t>Regressions 5×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All worse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FF great</a:t>
                      </a:r>
                    </a:p>
                    <a:p>
                      <a:r>
                        <a:t>CF doubled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EC5F1"/>
                </a:solidFill>
              </a:defRPr>
            </a:pPr>
            <a:r>
              <a:t>✅ Improvements 10.8 → 10.9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4EC96F"/>
                </a:solidFill>
              </a:defRPr>
            </a:pPr>
            <a:r>
              <a:t>FF discipline improved: 37 → 25 breaches (-32%)</a:t>
            </a:r>
          </a:p>
          <a:p>
            <a:pPr>
              <a:spcAft>
                <a:spcPts val="600"/>
              </a:spcAft>
              <a:defRPr sz="1800" b="0">
                <a:solidFill>
                  <a:srgbClr val="4EC96F"/>
                </a:solidFill>
              </a:defRPr>
            </a:pPr>
            <a:r>
              <a:t>Dana CF breach: 6 → 2 stories at Code Freeze</a:t>
            </a:r>
          </a:p>
          <a:p>
            <a:pPr>
              <a:spcAft>
                <a:spcPts val="600"/>
              </a:spcAft>
              <a:defRPr sz="1800" b="0">
                <a:solidFill>
                  <a:srgbClr val="4EC96F"/>
                </a:solidFill>
              </a:defRPr>
            </a:pPr>
            <a:r>
              <a:t>Rajeev FF significantly improved: 30 → 11</a:t>
            </a:r>
          </a:p>
          <a:p>
            <a:pPr>
              <a:spcAft>
                <a:spcPts val="600"/>
              </a:spcAft>
              <a:defRPr sz="1800" b="0">
                <a:solidFill>
                  <a:srgbClr val="4EC96F"/>
                </a:solidFill>
              </a:defRPr>
            </a:pPr>
            <a:r>
              <a:t>Dana FF improved: 7 → 6</a:t>
            </a:r>
          </a:p>
          <a:p>
            <a:pPr>
              <a:spcAft>
                <a:spcPts val="600"/>
              </a:spcAft>
              <a:defRPr sz="1800" b="0">
                <a:solidFill>
                  <a:srgbClr val="4EC96F"/>
                </a:solidFill>
              </a:defRPr>
            </a:pPr>
            <a:r>
              <a:t>Rajeev regressions nearly stable: 27 → 30</a:t>
            </a:r>
          </a:p>
          <a:p>
            <a:pPr>
              <a:spcAft>
                <a:spcPts val="600"/>
              </a:spcAft>
              <a:defRPr sz="1200" b="0">
                <a:solidFill>
                  <a:srgbClr val="FFFFFF"/>
                </a:solidFill>
              </a:defRPr>
            </a:pPr>
          </a:p>
          <a:p>
            <a:pPr>
              <a:spcAft>
                <a:spcPts val="600"/>
              </a:spcAft>
              <a:defRPr sz="1600" b="0">
                <a:solidFill>
                  <a:srgbClr val="BDBDBD"/>
                </a:solidFill>
              </a:defRPr>
            </a:pPr>
            <a:r>
              <a:t>Positive pattern: upgrade testing during development (Rajeev)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017520"/>
            <a:ext cx="137160" cy="822960"/>
          </a:xfrm>
          <a:prstGeom prst="rect">
            <a:avLst/>
          </a:prstGeom>
          <a:solidFill>
            <a:srgbClr val="4EC5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10972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Root Cause Analysis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4EC5F1"/>
                </a:solidFill>
              </a:defRPr>
            </a:pPr>
            <a:r>
              <a:t>Regression Total: 50 → 152 (+204%) — Top Contributors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005840"/>
          <a:ext cx="1133856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731520"/>
                <a:gridCol w="731520"/>
                <a:gridCol w="731520"/>
                <a:gridCol w="6858000"/>
              </a:tblGrid>
              <a:tr h="36576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Squad (GM)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10.8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10.9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Root Cause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Nils (Dana)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16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60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+44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React Migration — all new bugs = regressions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GreenBoat (Rajeev)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15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22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+7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Upgrade scenarios, EF cache, code conflicts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Cloud Compliance (Dana)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19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Security/compliance bugs, 0 by automation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Driver (Shlomi)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11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+10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VME/VAIO — low quality dev testing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VRA (Shlomi)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10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+7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Scale issues at large setups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Azure (Dana)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+5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GPv2 performance, recovery stuck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Apex (Rajeev)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+2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Secret Centralization + late testing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EC5F1"/>
                </a:solidFill>
              </a:defRPr>
            </a:pPr>
            <a:r>
              <a:t>FF &amp; CF Breach Root Causes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 b="1">
                <a:solidFill>
                  <a:srgbClr val="F39C12"/>
                </a:solidFill>
              </a:defRPr>
            </a:pPr>
            <a:r>
              <a:t>FF Breaches (25 total):</a:t>
            </a:r>
          </a:p>
          <a:p>
            <a:pPr>
              <a:spcAft>
                <a:spcPts val="600"/>
              </a:spcAft>
              <a:defRPr sz="1600" b="0">
                <a:solidFill>
                  <a:srgbClr val="FFFFFF"/>
                </a:solidFill>
              </a:defRPr>
            </a:pPr>
            <a:r>
              <a:t>  • Cyber Resilience (7): Late requirements — design approved end Sprint 4</a:t>
            </a:r>
          </a:p>
          <a:p>
            <a:pPr>
              <a:spcAft>
                <a:spcPts val="600"/>
              </a:spcAft>
              <a:defRPr sz="1600" b="0">
                <a:solidFill>
                  <a:srgbClr val="FFFFFF"/>
                </a:solidFill>
              </a:defRPr>
            </a:pPr>
            <a:r>
              <a:t>  • Apex Legends (7): Stories in RFT but QA bandwidth limited</a:t>
            </a:r>
          </a:p>
          <a:p>
            <a:pPr>
              <a:spcAft>
                <a:spcPts val="600"/>
              </a:spcAft>
              <a:defRPr sz="1600" b="0">
                <a:solidFill>
                  <a:srgbClr val="FFFFFF"/>
                </a:solidFill>
              </a:defRPr>
            </a:pPr>
            <a:r>
              <a:t>  • GreenBoat (4): Dependencies on Linux migration + waiver</a:t>
            </a:r>
          </a:p>
          <a:p>
            <a:pPr>
              <a:spcAft>
                <a:spcPts val="600"/>
              </a:spcAft>
              <a:defRPr sz="1600" b="0">
                <a:solidFill>
                  <a:srgbClr val="FFFFFF"/>
                </a:solidFill>
              </a:defRPr>
            </a:pPr>
            <a:r>
              <a:t>  • Nils (2), Azure (2), AI Agents (2), Driver (1)</a:t>
            </a:r>
          </a:p>
          <a:p>
            <a:pPr>
              <a:spcAft>
                <a:spcPts val="600"/>
              </a:spcAft>
              <a:defRPr sz="1000" b="0">
                <a:solidFill>
                  <a:srgbClr val="FFFFFF"/>
                </a:solidFill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E74C3C"/>
                </a:solidFill>
              </a:defRPr>
            </a:pPr>
            <a:r>
              <a:t>CF Breaches (36 stories):</a:t>
            </a:r>
          </a:p>
          <a:p>
            <a:pPr>
              <a:spcAft>
                <a:spcPts val="600"/>
              </a:spcAft>
              <a:defRPr sz="1600" b="0">
                <a:solidFill>
                  <a:srgbClr val="FFFFFF"/>
                </a:solidFill>
              </a:defRPr>
            </a:pPr>
            <a:r>
              <a:t>  • GreenBoat (13): Public Cloud test setup not ready</a:t>
            </a:r>
          </a:p>
          <a:p>
            <a:pPr>
              <a:spcAft>
                <a:spcPts val="600"/>
              </a:spcAft>
              <a:defRPr sz="1600" b="0">
                <a:solidFill>
                  <a:srgbClr val="FFFFFF"/>
                </a:solidFill>
              </a:defRPr>
            </a:pPr>
            <a:r>
              <a:t>  • Apex Legends (12): Testing started late, stories stuck in QA</a:t>
            </a:r>
          </a:p>
          <a:p>
            <a:pPr>
              <a:spcAft>
                <a:spcPts val="600"/>
              </a:spcAft>
              <a:defRPr sz="1600" b="0">
                <a:solidFill>
                  <a:srgbClr val="FFFFFF"/>
                </a:solidFill>
              </a:defRPr>
            </a:pPr>
            <a:r>
              <a:t>  • Mavka (4), Cyber Resilience (4): Late start</a:t>
            </a:r>
          </a:p>
          <a:p>
            <a:pPr>
              <a:spcAft>
                <a:spcPts val="600"/>
              </a:spcAft>
              <a:defRPr sz="1600" b="0">
                <a:solidFill>
                  <a:srgbClr val="FFFFFF"/>
                </a:solidFill>
              </a:defRPr>
            </a:pPr>
            <a:r>
              <a:t>  • AI Agents (2), Driver (1)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EC5F1"/>
                </a:solidFill>
              </a:defRPr>
            </a:pPr>
            <a:r>
              <a:t>Automation Detection Rate — Dropped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E74C3C"/>
                </a:solidFill>
              </a:defRPr>
            </a:pPr>
            <a:r>
              <a:t>Most concerning metric — target is +20% improvement, we went backwards</a:t>
            </a:r>
          </a:p>
          <a:p>
            <a:pPr>
              <a:spcAft>
                <a:spcPts val="600"/>
              </a:spcAft>
              <a:defRPr sz="1000" b="0">
                <a:solidFill>
                  <a:srgbClr val="FFFFFF"/>
                </a:solidFill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F39C12"/>
                </a:solidFill>
              </a:defRPr>
            </a:pPr>
            <a:r>
              <a:t>Why?</a:t>
            </a:r>
          </a:p>
          <a:p>
            <a:pPr>
              <a:spcAft>
                <a:spcPts val="600"/>
              </a:spcAft>
              <a:defRPr sz="1600" b="0">
                <a:solidFill>
                  <a:srgbClr val="FFFFFF"/>
                </a:solidFill>
              </a:defRPr>
            </a:pPr>
            <a:r>
              <a:t>  • New bugs concentrated in React (Nils=60) and VME (Driver=11)</a:t>
            </a:r>
          </a:p>
          <a:p>
            <a:pPr>
              <a:spcAft>
                <a:spcPts val="600"/>
              </a:spcAft>
              <a:defRPr sz="1600" b="0">
                <a:solidFill>
                  <a:srgbClr val="FFFFFF"/>
                </a:solidFill>
              </a:defRPr>
            </a:pPr>
            <a:r>
              <a:t>  • These areas have LOW automation coverage</a:t>
            </a:r>
          </a:p>
          <a:p>
            <a:pPr>
              <a:spcAft>
                <a:spcPts val="600"/>
              </a:spcAft>
              <a:defRPr sz="1600" b="0">
                <a:solidFill>
                  <a:srgbClr val="FFFFFF"/>
                </a:solidFill>
              </a:defRPr>
            </a:pPr>
            <a:r>
              <a:t>  • React has Cypress but insufficient for complex scenarios</a:t>
            </a:r>
          </a:p>
          <a:p>
            <a:pPr>
              <a:spcAft>
                <a:spcPts val="600"/>
              </a:spcAft>
              <a:defRPr sz="1600" b="0">
                <a:solidFill>
                  <a:srgbClr val="FFFFFF"/>
                </a:solidFill>
              </a:defRPr>
            </a:pPr>
            <a:r>
              <a:t>  • VME/Driver has minimal automation — 'N/A' per Shlomi</a:t>
            </a:r>
          </a:p>
          <a:p>
            <a:pPr>
              <a:spcAft>
                <a:spcPts val="600"/>
              </a:spcAft>
              <a:defRPr sz="1600" b="0">
                <a:solidFill>
                  <a:srgbClr val="FFFFFF"/>
                </a:solidFill>
              </a:defRPr>
            </a:pPr>
            <a:r>
              <a:t>  • Cloud Compliance (19 regressions): 0/19 found by automation</a:t>
            </a:r>
          </a:p>
          <a:p>
            <a:pPr>
              <a:spcAft>
                <a:spcPts val="600"/>
              </a:spcAft>
              <a:defRPr sz="1000" b="0">
                <a:solidFill>
                  <a:srgbClr val="FFFFFF"/>
                </a:solidFill>
              </a:defRPr>
            </a:pPr>
          </a:p>
          <a:p>
            <a:pPr>
              <a:spcAft>
                <a:spcPts val="600"/>
              </a:spcAft>
              <a:defRPr sz="1600" b="0">
                <a:solidFill>
                  <a:srgbClr val="BDBDBD"/>
                </a:solidFill>
              </a:defRPr>
            </a:pPr>
            <a:r>
              <a:t>152 regressions total — vast majority in low-automation areas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017520"/>
            <a:ext cx="137160" cy="822960"/>
          </a:xfrm>
          <a:prstGeom prst="rect">
            <a:avLst/>
          </a:prstGeom>
          <a:solidFill>
            <a:srgbClr val="4EC5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10972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QA-Dev Interface:</a:t>
            </a:r>
            <a:br/>
            <a:r>
              <a:t>Ready For Testing Backlog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4EC5F1"/>
                </a:solidFill>
              </a:defRPr>
            </a:pPr>
            <a:r>
              <a:t>RFT Backlog Growth: 75 → 196 items (+161%)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005840"/>
          <a:ext cx="114300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286000"/>
                <a:gridCol w="5943600"/>
              </a:tblGrid>
              <a:tr h="36576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Milestone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Items in RFT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Notes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10.9 Sprint 1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75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Baseline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10.9 Sprint 4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84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+12%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10.9 Feature Freeze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87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Stable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10.9 Code Freeze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45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Consumed during hardening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10.10 Sprint 1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94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Immediately refilled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10.10 Sprint 2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169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⚠️ Spike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Today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196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❌ +161% from baseline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EC5F1"/>
                </a:solidFill>
              </a:defRPr>
            </a:pPr>
            <a:r>
              <a:t>RFT Backlog: Per Squad &amp; Aging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E74C3C"/>
                </a:solidFill>
              </a:defRPr>
            </a:pPr>
            <a:r>
              <a:t>Current: 196 items. 75% older than 30 days. 55 items &gt; 3 months.</a:t>
            </a:r>
          </a:p>
          <a:p>
            <a:pPr>
              <a:spcAft>
                <a:spcPts val="600"/>
              </a:spcAft>
              <a:defRPr sz="800" b="0">
                <a:solidFill>
                  <a:srgbClr val="FFFFFF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4EC5F1"/>
                </a:solidFill>
              </a:defRPr>
            </a:pPr>
            <a:r>
              <a:t>Top squads:</a:t>
            </a:r>
          </a:p>
          <a:p>
            <a:pPr>
              <a:spcAft>
                <a:spcPts val="600"/>
              </a:spcAft>
              <a:defRPr sz="1600" b="0">
                <a:solidFill>
                  <a:srgbClr val="FFFFFF"/>
                </a:solidFill>
              </a:defRPr>
            </a:pPr>
            <a:r>
              <a:t>  • Nils (Dana): 50 items, avg 71 days old</a:t>
            </a:r>
          </a:p>
          <a:p>
            <a:pPr>
              <a:spcAft>
                <a:spcPts val="600"/>
              </a:spcAft>
              <a:defRPr sz="1600" b="0">
                <a:solidFill>
                  <a:srgbClr val="FFFFFF"/>
                </a:solidFill>
              </a:defRPr>
            </a:pPr>
            <a:r>
              <a:t>  • Opus (Dana): 31 items, avg 57 days old</a:t>
            </a:r>
          </a:p>
          <a:p>
            <a:pPr>
              <a:spcAft>
                <a:spcPts val="600"/>
              </a:spcAft>
              <a:defRPr sz="1600" b="0">
                <a:solidFill>
                  <a:srgbClr val="F39C12"/>
                </a:solidFill>
              </a:defRPr>
            </a:pPr>
            <a:r>
              <a:t>  • Azure (Dana): 25 items, avg 97 days old ⚠️</a:t>
            </a:r>
          </a:p>
          <a:p>
            <a:pPr>
              <a:spcAft>
                <a:spcPts val="600"/>
              </a:spcAft>
              <a:defRPr sz="1600" b="0">
                <a:solidFill>
                  <a:srgbClr val="FFFFFF"/>
                </a:solidFill>
              </a:defRPr>
            </a:pPr>
            <a:r>
              <a:t>  • Apex Legends (Rajeev): 16 items, avg 90 days old</a:t>
            </a:r>
          </a:p>
          <a:p>
            <a:pPr>
              <a:spcAft>
                <a:spcPts val="600"/>
              </a:spcAft>
              <a:defRPr sz="1600" b="0">
                <a:solidFill>
                  <a:srgbClr val="FFFFFF"/>
                </a:solidFill>
              </a:defRPr>
            </a:pPr>
            <a:r>
              <a:t>  • GreenBoat (Rajeev): items in queue</a:t>
            </a:r>
          </a:p>
          <a:p>
            <a:pPr>
              <a:spcAft>
                <a:spcPts val="600"/>
              </a:spcAft>
              <a:defRPr sz="800" b="0">
                <a:solidFill>
                  <a:srgbClr val="FFFFFF"/>
                </a:solidFill>
              </a:defRPr>
            </a:pPr>
          </a:p>
          <a:p>
            <a:pPr>
              <a:spcAft>
                <a:spcPts val="600"/>
              </a:spcAft>
              <a:defRPr sz="1600" b="0">
                <a:solidFill>
                  <a:srgbClr val="BDBDBD"/>
                </a:solidFill>
              </a:defRPr>
            </a:pPr>
            <a:r>
              <a:t>10.8 FF vs 10.9 FF: RFT grew from 39 → 64 items (+64%)</a:t>
            </a:r>
          </a:p>
          <a:p>
            <a:pPr>
              <a:spcAft>
                <a:spcPts val="600"/>
              </a:spcAft>
              <a:defRPr sz="1600" b="0">
                <a:solidFill>
                  <a:srgbClr val="BDBDBD"/>
                </a:solidFill>
              </a:defRPr>
            </a:pPr>
            <a:r>
              <a:t>Stuck &gt; 3 weeks: doubled from 3 → 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017520"/>
            <a:ext cx="137160" cy="822960"/>
          </a:xfrm>
          <a:prstGeom prst="rect">
            <a:avLst/>
          </a:prstGeom>
          <a:solidFill>
            <a:srgbClr val="4EC5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10972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Epic &amp; Story Lifecycle</a:t>
            </a:r>
            <a:br/>
            <a:r>
              <a:t>SLA Analysis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4EC5F1"/>
                </a:solidFill>
              </a:defRPr>
            </a:pPr>
            <a:r>
              <a:t>Story Active Cycle Time (In Progress → Completed)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005840"/>
          <a:ext cx="114300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286000"/>
                <a:gridCol w="1828800"/>
                <a:gridCol w="1828800"/>
                <a:gridCol w="2286000"/>
              </a:tblGrid>
              <a:tr h="36576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Phase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All (n=61)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Dana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Shlomi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Rajeev ⚠️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Dev Time (IP → RFT)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27d avg / 12d med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7d / 5d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11d / 7d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42d / 15d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QA Queue (RFT → Testing)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25d avg / 14d med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15d / 19d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10d / 6d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44d / 29d ⚠️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QA Execution (Testing → Done)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15d avg / 3d med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2d / 0d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6d / 2d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33d / 28d ⚠️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Total Active Cycle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56d avg / 27d med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18d / 11d ✅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24d / 21d ✅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90d / 74d ❌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4EC5F1"/>
                </a:solidFill>
              </a:defRPr>
            </a:pPr>
            <a:r>
              <a:t>Story Lifecycle — Per Squad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005840"/>
          <a:ext cx="118872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743200"/>
                <a:gridCol w="2743200"/>
                <a:gridCol w="3200400"/>
              </a:tblGrid>
              <a:tr h="36576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Squad (GM)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Total Active (avg/med)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QA Queue (avg/med)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Concern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GreenBoat (Rajeev)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95d / 80d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45d / 29d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⚠️ Longest cycle + QA queue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Apex Legends (Rajeev)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83d / 27d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41d / 26d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⚠️ High variability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Cyber Resilience (Shlomi)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24d / 24d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11d / 6d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✅ Healthy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Cloud Azure (Dana)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19d / 19d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16d / 19d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✅ Healthy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EC5F1"/>
                </a:solidFill>
              </a:defRPr>
            </a:pPr>
            <a:r>
              <a:t>Epic Lifecycle Phases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BDBDBD"/>
                </a:solidFill>
              </a:defRPr>
            </a:pPr>
            <a:r>
              <a:t>Workflow: New → Ready For Dev → In Development → Ready To Ship</a:t>
            </a:r>
          </a:p>
          <a:p>
            <a:pPr>
              <a:spcAft>
                <a:spcPts val="600"/>
              </a:spcAft>
              <a:defRPr sz="800" b="0">
                <a:solidFill>
                  <a:srgbClr val="FFFFFF"/>
                </a:solidFill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4EC5F1"/>
                </a:solidFill>
              </a:defRPr>
            </a:pPr>
            <a:r>
              <a:t>FR Phase (New → Ready For Development):</a:t>
            </a:r>
          </a:p>
          <a:p>
            <a:pPr>
              <a:spcAft>
                <a:spcPts val="600"/>
              </a:spcAft>
              <a:defRPr sz="1600" b="0">
                <a:solidFill>
                  <a:srgbClr val="FFFFFF"/>
                </a:solidFill>
              </a:defRPr>
            </a:pPr>
            <a:r>
              <a:t>  Overall: avg 71d, median 21d (n=11)</a:t>
            </a:r>
          </a:p>
          <a:p>
            <a:pPr>
              <a:spcAft>
                <a:spcPts val="600"/>
              </a:spcAft>
              <a:defRPr sz="1600" b="0">
                <a:solidFill>
                  <a:srgbClr val="F39C12"/>
                </a:solidFill>
              </a:defRPr>
            </a:pPr>
            <a:r>
              <a:t>  Shlomi: avg 94d — late requirement injection</a:t>
            </a:r>
          </a:p>
          <a:p>
            <a:pPr>
              <a:spcAft>
                <a:spcPts val="600"/>
              </a:spcAft>
              <a:defRPr sz="1600" b="0">
                <a:solidFill>
                  <a:srgbClr val="FFFFFF"/>
                </a:solidFill>
              </a:defRPr>
            </a:pPr>
            <a:r>
              <a:t>  Rajeev: avg 57d, median 35d</a:t>
            </a:r>
          </a:p>
          <a:p>
            <a:pPr>
              <a:spcAft>
                <a:spcPts val="600"/>
              </a:spcAft>
              <a:defRPr sz="800" b="0">
                <a:solidFill>
                  <a:srgbClr val="FFFFFF"/>
                </a:solidFill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4EC5F1"/>
                </a:solidFill>
              </a:defRPr>
            </a:pPr>
            <a:r>
              <a:t>Planning Wait (Ready For Dev → In Development):</a:t>
            </a:r>
          </a:p>
          <a:p>
            <a:pPr>
              <a:spcAft>
                <a:spcPts val="600"/>
              </a:spcAft>
              <a:defRPr sz="1600" b="0">
                <a:solidFill>
                  <a:srgbClr val="FFFFFF"/>
                </a:solidFill>
              </a:defRPr>
            </a:pPr>
            <a:r>
              <a:t>  Overall: avg 43d, median 30d (n=10)</a:t>
            </a:r>
          </a:p>
          <a:p>
            <a:pPr>
              <a:spcAft>
                <a:spcPts val="600"/>
              </a:spcAft>
              <a:defRPr sz="1600" b="0">
                <a:solidFill>
                  <a:srgbClr val="F39C12"/>
                </a:solidFill>
              </a:defRPr>
            </a:pPr>
            <a:r>
              <a:t>  Rajeev: avg 50d — epics sit idle ~7 weeks after FR done</a:t>
            </a:r>
          </a:p>
          <a:p>
            <a:pPr>
              <a:spcAft>
                <a:spcPts val="600"/>
              </a:spcAft>
              <a:defRPr sz="1600" b="0">
                <a:solidFill>
                  <a:srgbClr val="FFFFFF"/>
                </a:solidFill>
              </a:defRPr>
            </a:pPr>
            <a:r>
              <a:t>  Shlomi: avg 26d — reasonable</a:t>
            </a:r>
          </a:p>
          <a:p>
            <a:pPr>
              <a:spcAft>
                <a:spcPts val="600"/>
              </a:spcAft>
              <a:defRPr sz="800" b="0">
                <a:solidFill>
                  <a:srgbClr val="FFFFFF"/>
                </a:solidFill>
              </a:defRPr>
            </a:pPr>
          </a:p>
          <a:p>
            <a:pPr>
              <a:spcAft>
                <a:spcPts val="600"/>
              </a:spcAft>
              <a:defRPr sz="1600" b="0">
                <a:solidFill>
                  <a:srgbClr val="4EC96F"/>
                </a:solidFill>
              </a:defRPr>
            </a:pPr>
            <a:r>
              <a:t>Design stories (once started): avg 31d — not a bottleneck ✅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EC5F1"/>
                </a:solidFill>
              </a:defRPr>
            </a:pPr>
            <a:r>
              <a:t>Key Findings: Where Does Time Go?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 b="1">
                <a:solidFill>
                  <a:srgbClr val="E74C3C"/>
                </a:solidFill>
              </a:defRPr>
            </a:pPr>
            <a:r>
              <a:t>1. QA Queue is #1 time sink for Rajeev</a:t>
            </a:r>
          </a:p>
          <a:p>
            <a:pPr>
              <a:spcAft>
                <a:spcPts val="600"/>
              </a:spcAft>
              <a:defRPr sz="1600" b="0">
                <a:solidFill>
                  <a:srgbClr val="FFFFFF"/>
                </a:solidFill>
              </a:defRPr>
            </a:pPr>
            <a:r>
              <a:t>   44 days avg waiting in RFT. GreenBoat=45d, Apex=41d</a:t>
            </a:r>
          </a:p>
          <a:p>
            <a:pPr>
              <a:spcAft>
                <a:spcPts val="600"/>
              </a:spcAft>
              <a:defRPr sz="600" b="0">
                <a:solidFill>
                  <a:srgbClr val="FFFFFF"/>
                </a:solidFill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E74C3C"/>
                </a:solidFill>
              </a:defRPr>
            </a:pPr>
            <a:r>
              <a:t>2. Rajeev's cycle is 4-5× longer than Dana/Shlomi</a:t>
            </a:r>
          </a:p>
          <a:p>
            <a:pPr>
              <a:spcAft>
                <a:spcPts val="600"/>
              </a:spcAft>
              <a:defRPr sz="1600" b="0">
                <a:solidFill>
                  <a:srgbClr val="FFFFFF"/>
                </a:solidFill>
              </a:defRPr>
            </a:pPr>
            <a:r>
              <a:t>   90d vs 18-24d. Long dev + long QA queue + long QA execution</a:t>
            </a:r>
          </a:p>
          <a:p>
            <a:pPr>
              <a:spcAft>
                <a:spcPts val="600"/>
              </a:spcAft>
              <a:defRPr sz="600" b="0">
                <a:solidFill>
                  <a:srgbClr val="FFFFFF"/>
                </a:solidFill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F39C12"/>
                </a:solidFill>
              </a:defRPr>
            </a:pPr>
            <a:r>
              <a:t>3. FR Phase avg 71 days at epic level</a:t>
            </a:r>
          </a:p>
          <a:p>
            <a:pPr>
              <a:spcAft>
                <a:spcPts val="600"/>
              </a:spcAft>
              <a:defRPr sz="1600" b="0">
                <a:solidFill>
                  <a:srgbClr val="FFFFFF"/>
                </a:solidFill>
              </a:defRPr>
            </a:pPr>
            <a:r>
              <a:t>   Shlomi's epics avg 94d. Requirements not locked early enough</a:t>
            </a:r>
          </a:p>
          <a:p>
            <a:pPr>
              <a:spcAft>
                <a:spcPts val="600"/>
              </a:spcAft>
              <a:defRPr sz="600" b="0">
                <a:solidFill>
                  <a:srgbClr val="FFFFFF"/>
                </a:solidFill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F39C12"/>
                </a:solidFill>
              </a:defRPr>
            </a:pPr>
            <a:r>
              <a:t>4. Planning idle after FR: 43 days</a:t>
            </a:r>
          </a:p>
          <a:p>
            <a:pPr>
              <a:spcAft>
                <a:spcPts val="600"/>
              </a:spcAft>
              <a:defRPr sz="1600" b="0">
                <a:solidFill>
                  <a:srgbClr val="FFFFFF"/>
                </a:solidFill>
              </a:defRPr>
            </a:pPr>
            <a:r>
              <a:t>   Epics ready for dev but nobody picks them up for 6 weeks</a:t>
            </a:r>
          </a:p>
          <a:p>
            <a:pPr>
              <a:spcAft>
                <a:spcPts val="600"/>
              </a:spcAft>
              <a:defRPr sz="600" b="0">
                <a:solidFill>
                  <a:srgbClr val="FFFFFF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4EC96F"/>
                </a:solidFill>
              </a:defRPr>
            </a:pPr>
            <a:r>
              <a:t>5. Dana &amp; Shlomi story cycles are healthy (18-24d)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017520"/>
            <a:ext cx="137160" cy="822960"/>
          </a:xfrm>
          <a:prstGeom prst="rect">
            <a:avLst/>
          </a:prstGeom>
          <a:solidFill>
            <a:srgbClr val="4EC5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10972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10.8 Retro Cross-Reference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4EC5F1"/>
                </a:solidFill>
              </a:defRPr>
            </a:pPr>
            <a:r>
              <a:t>10.8 Findings: What Was Actually Addressed?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005840"/>
          <a:ext cx="114300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4114800"/>
              </a:tblGrid>
              <a:tr h="36576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10.8 Finding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10.9 Result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Verdict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Don't enable FE tweaks late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Same issue, Nils 16→60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❌ NOT ADDRESSED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React side-by-side comparison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Not done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❌ NOT ADDRESSED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Increase Cypress coverage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Rate dropped significantly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❌ NOT ADDRESSED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Clarify cross-team ownership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Same GB/AWS blame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❌ NOT ADDRESSED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Upgrade test during dev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Rajeev regressions FLAT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✅ ADDRESSED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Scale setups lacking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Still not ready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❌ NOT ADDRESSED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ZIC timeline different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Under discussion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⏳ IN PROGRESS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Enhance ZIC quality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Cyber FF breach +7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❌ NOT ADDRESSED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EC5F1"/>
                </a:solidFill>
              </a:defRPr>
            </a:pPr>
            <a:r>
              <a:t>10.8 → 10.9 Improvement Score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0">
                <a:solidFill>
                  <a:srgbClr val="FFFFFF"/>
                </a:solidFill>
              </a:defRPr>
            </a:pPr>
          </a:p>
          <a:p>
            <a:pPr>
              <a:spcAft>
                <a:spcPts val="600"/>
              </a:spcAft>
              <a:defRPr sz="3600" b="1">
                <a:solidFill>
                  <a:srgbClr val="E74C3C"/>
                </a:solidFill>
              </a:defRPr>
            </a:pPr>
            <a:r>
              <a:t>1 / 8  improvements implemented</a:t>
            </a:r>
          </a:p>
          <a:p>
            <a:pPr>
              <a:spcAft>
                <a:spcPts val="600"/>
              </a:spcAft>
              <a:defRPr sz="1000" b="0">
                <a:solidFill>
                  <a:srgbClr val="FFFFFF"/>
                </a:solidFill>
              </a:defRPr>
            </a:pPr>
          </a:p>
          <a:p>
            <a:pPr>
              <a:spcAft>
                <a:spcPts val="600"/>
              </a:spcAft>
              <a:defRPr sz="2800" b="0">
                <a:solidFill>
                  <a:srgbClr val="F1C40F"/>
                </a:solidFill>
              </a:defRPr>
            </a:pPr>
            <a:r>
              <a:t>1 / 8  in progress</a:t>
            </a:r>
          </a:p>
          <a:p>
            <a:pPr>
              <a:spcAft>
                <a:spcPts val="600"/>
              </a:spcAft>
              <a:defRPr sz="1000" b="0">
                <a:solidFill>
                  <a:srgbClr val="FFFFFF"/>
                </a:solidFill>
              </a:defRPr>
            </a:pPr>
          </a:p>
          <a:p>
            <a:pPr>
              <a:spcAft>
                <a:spcPts val="600"/>
              </a:spcAft>
              <a:defRPr sz="2800" b="0">
                <a:solidFill>
                  <a:srgbClr val="E74C3C"/>
                </a:solidFill>
              </a:defRPr>
            </a:pPr>
            <a:r>
              <a:t>6 / 8  not addressed</a:t>
            </a:r>
          </a:p>
          <a:p>
            <a:pPr>
              <a:spcAft>
                <a:spcPts val="600"/>
              </a:spcAft>
              <a:defRPr sz="2000" b="0">
                <a:solidFill>
                  <a:srgbClr val="FFFFFF"/>
                </a:solidFill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FFFFFF"/>
                </a:solidFill>
              </a:defRPr>
            </a:pPr>
            <a:r>
              <a:t>We must break this pattern in 10.10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017520"/>
            <a:ext cx="137160" cy="822960"/>
          </a:xfrm>
          <a:prstGeom prst="rect">
            <a:avLst/>
          </a:prstGeom>
          <a:solidFill>
            <a:srgbClr val="4EC5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10972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Action Items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EC5F1"/>
                </a:solidFill>
              </a:defRPr>
            </a:pPr>
            <a:r>
              <a:t>Dana Mittelman — Priority: REGRESSION (95 bugs)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FFFFFF"/>
                </a:solidFill>
              </a:defRPr>
            </a:pPr>
            <a:r>
              <a:t>D1: Enforce tweak activation policy</a:t>
            </a:r>
          </a:p>
          <a:p>
            <a:pPr>
              <a:spcAft>
                <a:spcPts val="600"/>
              </a:spcAft>
              <a:defRPr sz="1400" b="0">
                <a:solidFill>
                  <a:srgbClr val="BDBDBD"/>
                </a:solidFill>
              </a:defRPr>
            </a:pPr>
            <a:r>
              <a:t>    No FE tweak after Sprint 5. Dev+QA sign-off required.</a:t>
            </a:r>
          </a:p>
          <a:p>
            <a:pPr>
              <a:spcAft>
                <a:spcPts val="600"/>
              </a:spcAft>
              <a:defRPr sz="1400" b="0">
                <a:solidFill>
                  <a:srgbClr val="4EC96F"/>
                </a:solidFill>
              </a:defRPr>
            </a:pPr>
            <a:r>
              <a:t>    Target: Zero regressions from late-activated tweaks</a:t>
            </a:r>
          </a:p>
          <a:p>
            <a:pPr>
              <a:spcAft>
                <a:spcPts val="600"/>
              </a:spcAft>
              <a:defRPr sz="600" b="0">
                <a:solidFill>
                  <a:srgbClr val="FFFFFF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FFFFFF"/>
                </a:solidFill>
              </a:defRPr>
            </a:pPr>
            <a:r>
              <a:t>D2: React Migration quality gate</a:t>
            </a:r>
          </a:p>
          <a:p>
            <a:pPr>
              <a:spcAft>
                <a:spcPts val="600"/>
              </a:spcAft>
              <a:defRPr sz="1400" b="0">
                <a:solidFill>
                  <a:srgbClr val="BDBDBD"/>
                </a:solidFill>
              </a:defRPr>
            </a:pPr>
            <a:r>
              <a:t>    Side-by-side visual comparison with AngularJS before merge</a:t>
            </a:r>
          </a:p>
          <a:p>
            <a:pPr>
              <a:spcAft>
                <a:spcPts val="600"/>
              </a:spcAft>
              <a:defRPr sz="1400" b="0">
                <a:solidFill>
                  <a:srgbClr val="4EC96F"/>
                </a:solidFill>
              </a:defRPr>
            </a:pPr>
            <a:r>
              <a:t>    Target: Nils regressions &lt; 20 (down from 60)</a:t>
            </a:r>
          </a:p>
          <a:p>
            <a:pPr>
              <a:spcAft>
                <a:spcPts val="600"/>
              </a:spcAft>
              <a:defRPr sz="600" b="0">
                <a:solidFill>
                  <a:srgbClr val="FFFFFF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FFFFFF"/>
                </a:solidFill>
              </a:defRPr>
            </a:pPr>
            <a:r>
              <a:t>D3: Cypress coverage plan for React</a:t>
            </a:r>
          </a:p>
          <a:p>
            <a:pPr>
              <a:spcAft>
                <a:spcPts val="600"/>
              </a:spcAft>
              <a:defRPr sz="1400" b="0">
                <a:solidFill>
                  <a:srgbClr val="BDBDBD"/>
                </a:solidFill>
              </a:defRPr>
            </a:pPr>
            <a:r>
              <a:t>    Top 5 high-traffic pages covered by Sprint 3</a:t>
            </a:r>
          </a:p>
          <a:p>
            <a:pPr>
              <a:spcAft>
                <a:spcPts val="600"/>
              </a:spcAft>
              <a:defRPr sz="1400" b="0">
                <a:solidFill>
                  <a:srgbClr val="4EC96F"/>
                </a:solidFill>
              </a:defRPr>
            </a:pPr>
            <a:r>
              <a:t>    Target: Automation detection &gt; 25% for Nils bugs</a:t>
            </a:r>
          </a:p>
          <a:p>
            <a:pPr>
              <a:spcAft>
                <a:spcPts val="600"/>
              </a:spcAft>
              <a:defRPr sz="600" b="0">
                <a:solidFill>
                  <a:srgbClr val="FFFFFF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FFFFFF"/>
                </a:solidFill>
              </a:defRPr>
            </a:pPr>
            <a:r>
              <a:t>D4: Decouple Linux Migration tool from RC</a:t>
            </a:r>
          </a:p>
          <a:p>
            <a:pPr>
              <a:spcAft>
                <a:spcPts val="600"/>
              </a:spcAft>
              <a:defRPr sz="1400" b="0">
                <a:solidFill>
                  <a:srgbClr val="4EC96F"/>
                </a:solidFill>
              </a:defRPr>
            </a:pPr>
            <a:r>
              <a:t>    Target: Linux migration regressions moved to pre-CF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EC5F1"/>
                </a:solidFill>
              </a:defRPr>
            </a:pPr>
            <a:r>
              <a:t>Shlomi Apel — Priority: ALL METRICS REGRESSED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FFFFFF"/>
                </a:solidFill>
              </a:defRPr>
            </a:pPr>
            <a:r>
              <a:t>S1: Driver squad — mandatory dev self-testing checklist</a:t>
            </a:r>
          </a:p>
          <a:p>
            <a:pPr>
              <a:spcAft>
                <a:spcPts val="600"/>
              </a:spcAft>
              <a:defRPr sz="1400" b="0">
                <a:solidFill>
                  <a:srgbClr val="BDBDBD"/>
                </a:solidFill>
              </a:defRPr>
            </a:pPr>
            <a:r>
              <a:t>    5 basic scenarios per feature before 'Ready for Testing'</a:t>
            </a:r>
          </a:p>
          <a:p>
            <a:pPr>
              <a:spcAft>
                <a:spcPts val="600"/>
              </a:spcAft>
              <a:defRPr sz="1400" b="0">
                <a:solidFill>
                  <a:srgbClr val="4EC96F"/>
                </a:solidFill>
              </a:defRPr>
            </a:pPr>
            <a:r>
              <a:t>    Target: Driver regressions &lt; 4 (down from 11)</a:t>
            </a:r>
          </a:p>
          <a:p>
            <a:pPr>
              <a:spcAft>
                <a:spcPts val="600"/>
              </a:spcAft>
              <a:defRPr sz="600" b="0">
                <a:solidFill>
                  <a:srgbClr val="FFFFFF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FFFFFF"/>
                </a:solidFill>
              </a:defRPr>
            </a:pPr>
            <a:r>
              <a:t>S2: HV testing setup always-available policy</a:t>
            </a:r>
          </a:p>
          <a:p>
            <a:pPr>
              <a:spcAft>
                <a:spcPts val="600"/>
              </a:spcAft>
              <a:defRPr sz="1400" b="0">
                <a:solidFill>
                  <a:srgbClr val="4EC96F"/>
                </a:solidFill>
              </a:defRPr>
            </a:pPr>
            <a:r>
              <a:t>    Target: Zero CF breaches from setup unavailability</a:t>
            </a:r>
          </a:p>
          <a:p>
            <a:pPr>
              <a:spcAft>
                <a:spcPts val="600"/>
              </a:spcAft>
              <a:defRPr sz="600" b="0">
                <a:solidFill>
                  <a:srgbClr val="FFFFFF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FFFFFF"/>
                </a:solidFill>
              </a:defRPr>
            </a:pPr>
            <a:r>
              <a:t>S3: Scale testing capacity — escalate to VP/Infra</a:t>
            </a:r>
          </a:p>
          <a:p>
            <a:pPr>
              <a:spcAft>
                <a:spcPts val="600"/>
              </a:spcAft>
              <a:defRPr sz="1400" b="0">
                <a:solidFill>
                  <a:srgbClr val="4EC96F"/>
                </a:solidFill>
              </a:defRPr>
            </a:pPr>
            <a:r>
              <a:t>    Target: Scale tests parallel to dev (not sequential)</a:t>
            </a:r>
          </a:p>
          <a:p>
            <a:pPr>
              <a:spcAft>
                <a:spcPts val="600"/>
              </a:spcAft>
              <a:defRPr sz="600" b="0">
                <a:solidFill>
                  <a:srgbClr val="FFFFFF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FFFFFF"/>
                </a:solidFill>
              </a:defRPr>
            </a:pPr>
            <a:r>
              <a:t>S4: Cyber Resilience — requirements locked by Sprint 2</a:t>
            </a:r>
          </a:p>
          <a:p>
            <a:pPr>
              <a:spcAft>
                <a:spcPts val="600"/>
              </a:spcAft>
              <a:defRPr sz="1400" b="0">
                <a:solidFill>
                  <a:srgbClr val="4EC96F"/>
                </a:solidFill>
              </a:defRPr>
            </a:pPr>
            <a:r>
              <a:t>    Target: Zero FF breaches from late requirements</a:t>
            </a:r>
          </a:p>
          <a:p>
            <a:pPr>
              <a:spcAft>
                <a:spcPts val="600"/>
              </a:spcAft>
              <a:defRPr sz="600" b="0">
                <a:solidFill>
                  <a:srgbClr val="FFFFFF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FFFFFF"/>
                </a:solidFill>
              </a:defRPr>
            </a:pPr>
            <a:r>
              <a:t>S5: VRA scale checkpoint at Sprint 4</a:t>
            </a:r>
          </a:p>
          <a:p>
            <a:pPr>
              <a:spcAft>
                <a:spcPts val="600"/>
              </a:spcAft>
              <a:defRPr sz="1400" b="0">
                <a:solidFill>
                  <a:srgbClr val="4EC96F"/>
                </a:solidFill>
              </a:defRPr>
            </a:pPr>
            <a:r>
              <a:t>    Target: VRA P1 scale regressions = 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EC5F1"/>
                </a:solidFill>
              </a:defRPr>
            </a:pPr>
            <a:r>
              <a:t>Rajeev Srivastav — Priority: CF BREACH + QA QUEUE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FFFFFF"/>
                </a:solidFill>
              </a:defRPr>
            </a:pPr>
            <a:r>
              <a:t>R1: GreenBoat — stabilize test env BEFORE Sprint 5</a:t>
            </a:r>
          </a:p>
          <a:p>
            <a:pPr>
              <a:spcAft>
                <a:spcPts val="600"/>
              </a:spcAft>
              <a:defRPr sz="1400" b="0">
                <a:solidFill>
                  <a:srgbClr val="BDBDBD"/>
                </a:solidFill>
              </a:defRPr>
            </a:pPr>
            <a:r>
              <a:t>    If not ready by Sprint 5, descope dependent features</a:t>
            </a:r>
          </a:p>
          <a:p>
            <a:pPr>
              <a:spcAft>
                <a:spcPts val="600"/>
              </a:spcAft>
              <a:defRPr sz="1400" b="0">
                <a:solidFill>
                  <a:srgbClr val="4EC96F"/>
                </a:solidFill>
              </a:defRPr>
            </a:pPr>
            <a:r>
              <a:t>    Target: GB CF breach &lt; 5 (down from 13)</a:t>
            </a:r>
          </a:p>
          <a:p>
            <a:pPr>
              <a:spcAft>
                <a:spcPts val="600"/>
              </a:spcAft>
              <a:defRPr sz="600" b="0">
                <a:solidFill>
                  <a:srgbClr val="FFFFFF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FFFFFF"/>
                </a:solidFill>
              </a:defRPr>
            </a:pPr>
            <a:r>
              <a:t>R2: Cross-team impact ownership contract</a:t>
            </a:r>
          </a:p>
          <a:p>
            <a:pPr>
              <a:spcAft>
                <a:spcPts val="600"/>
              </a:spcAft>
              <a:defRPr sz="1400" b="0">
                <a:solidFill>
                  <a:srgbClr val="BDBDBD"/>
                </a:solidFill>
              </a:defRPr>
            </a:pPr>
            <a:r>
              <a:t>    Signed ownership doc at design phase for cross-team changes</a:t>
            </a:r>
          </a:p>
          <a:p>
            <a:pPr>
              <a:spcAft>
                <a:spcPts val="600"/>
              </a:spcAft>
              <a:defRPr sz="1400" b="0">
                <a:solidFill>
                  <a:srgbClr val="4EC96F"/>
                </a:solidFill>
              </a:defRPr>
            </a:pPr>
            <a:r>
              <a:t>    Target: Zero cross-team blame escalations</a:t>
            </a:r>
          </a:p>
          <a:p>
            <a:pPr>
              <a:spcAft>
                <a:spcPts val="600"/>
              </a:spcAft>
              <a:defRPr sz="600" b="0">
                <a:solidFill>
                  <a:srgbClr val="FFFFFF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FFFFFF"/>
                </a:solidFill>
              </a:defRPr>
            </a:pPr>
            <a:r>
              <a:t>R3: Apex Legends — QA bandwidth reservation</a:t>
            </a:r>
          </a:p>
          <a:p>
            <a:pPr>
              <a:spcAft>
                <a:spcPts val="600"/>
              </a:spcAft>
              <a:defRPr sz="1400" b="0">
                <a:solidFill>
                  <a:srgbClr val="BDBDBD"/>
                </a:solidFill>
              </a:defRPr>
            </a:pPr>
            <a:r>
              <a:t>    Pre-allocate QA capacity in Sprint 5-6</a:t>
            </a:r>
          </a:p>
          <a:p>
            <a:pPr>
              <a:spcAft>
                <a:spcPts val="600"/>
              </a:spcAft>
              <a:defRPr sz="1400" b="0">
                <a:solidFill>
                  <a:srgbClr val="4EC96F"/>
                </a:solidFill>
              </a:defRPr>
            </a:pPr>
            <a:r>
              <a:t>    Target: Zero FF breaches from 'ready but not tested'</a:t>
            </a:r>
          </a:p>
          <a:p>
            <a:pPr>
              <a:spcAft>
                <a:spcPts val="600"/>
              </a:spcAft>
              <a:defRPr sz="600" b="0">
                <a:solidFill>
                  <a:srgbClr val="FFFFFF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FFFFFF"/>
                </a:solidFill>
              </a:defRPr>
            </a:pPr>
            <a:r>
              <a:t>R4: Upgrade regression gate in CI</a:t>
            </a:r>
          </a:p>
          <a:p>
            <a:pPr>
              <a:spcAft>
                <a:spcPts val="600"/>
              </a:spcAft>
              <a:defRPr sz="1400" b="0">
                <a:solidFill>
                  <a:srgbClr val="4EC96F"/>
                </a:solidFill>
              </a:defRPr>
            </a:pPr>
            <a:r>
              <a:t>    Target: Upgrade regressions &lt; 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EC5F1"/>
                </a:solidFill>
              </a:defRPr>
            </a:pPr>
            <a:r>
              <a:t>Org-Level Actions (Sandra)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FFFFFF"/>
                </a:solidFill>
              </a:defRPr>
            </a:pPr>
            <a:r>
              <a:t>O1: Automation investment plan</a:t>
            </a:r>
          </a:p>
          <a:p>
            <a:pPr>
              <a:spcAft>
                <a:spcPts val="600"/>
              </a:spcAft>
              <a:defRPr sz="1400" b="0">
                <a:solidFill>
                  <a:srgbClr val="BDBDBD"/>
                </a:solidFill>
              </a:defRPr>
            </a:pPr>
            <a:r>
              <a:t>    Dedicated automation sprint per GM. Target: &gt; 25% rate</a:t>
            </a:r>
          </a:p>
          <a:p>
            <a:pPr>
              <a:spcAft>
                <a:spcPts val="600"/>
              </a:spcAft>
              <a:defRPr sz="600" b="0">
                <a:solidFill>
                  <a:srgbClr val="FFFFFF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FFFFFF"/>
                </a:solidFill>
              </a:defRPr>
            </a:pPr>
            <a:r>
              <a:t>O2: Tweak activation = formal release milestone</a:t>
            </a:r>
          </a:p>
          <a:p>
            <a:pPr>
              <a:spcAft>
                <a:spcPts val="600"/>
              </a:spcAft>
              <a:defRPr sz="1400" b="0">
                <a:solidFill>
                  <a:srgbClr val="BDBDBD"/>
                </a:solidFill>
              </a:defRPr>
            </a:pPr>
            <a:r>
              <a:t>    Jira workflow step by Sprint 5. Measurable.</a:t>
            </a:r>
          </a:p>
          <a:p>
            <a:pPr>
              <a:spcAft>
                <a:spcPts val="600"/>
              </a:spcAft>
              <a:defRPr sz="600" b="0">
                <a:solidFill>
                  <a:srgbClr val="FFFFFF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FFFFFF"/>
                </a:solidFill>
              </a:defRPr>
            </a:pPr>
            <a:r>
              <a:t>O3: ZIC timeline decision</a:t>
            </a:r>
          </a:p>
          <a:p>
            <a:pPr>
              <a:spcAft>
                <a:spcPts val="600"/>
              </a:spcAft>
              <a:defRPr sz="1400" b="0">
                <a:solidFill>
                  <a:srgbClr val="BDBDBD"/>
                </a:solidFill>
              </a:defRPr>
            </a:pPr>
            <a:r>
              <a:t>    Same FF/CF dates or different milestones? Decide now.</a:t>
            </a:r>
          </a:p>
          <a:p>
            <a:pPr>
              <a:spcAft>
                <a:spcPts val="600"/>
              </a:spcAft>
              <a:defRPr sz="600" b="0">
                <a:solidFill>
                  <a:srgbClr val="FFFFFF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FFFFFF"/>
                </a:solidFill>
              </a:defRPr>
            </a:pPr>
            <a:r>
              <a:t>O4: Mid-release regression checkpoint (Sprint 4)</a:t>
            </a:r>
          </a:p>
          <a:p>
            <a:pPr>
              <a:spcAft>
                <a:spcPts val="600"/>
              </a:spcAft>
              <a:defRPr sz="1400" b="0">
                <a:solidFill>
                  <a:srgbClr val="BDBDBD"/>
                </a:solidFill>
              </a:defRPr>
            </a:pPr>
            <a:r>
              <a:t>    If any squad &gt; 5 regressions by Sprint 4 → remediation plan</a:t>
            </a:r>
          </a:p>
          <a:p>
            <a:pPr>
              <a:spcAft>
                <a:spcPts val="600"/>
              </a:spcAft>
              <a:defRPr sz="600" b="0">
                <a:solidFill>
                  <a:srgbClr val="FFFFFF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FFFFFF"/>
                </a:solidFill>
              </a:defRPr>
            </a:pPr>
            <a:r>
              <a:t>L1: RFT WIP limit per squad (max 15 items)</a:t>
            </a:r>
          </a:p>
          <a:p>
            <a:pPr>
              <a:spcAft>
                <a:spcPts val="600"/>
              </a:spcAft>
              <a:defRPr sz="1400" b="0">
                <a:solidFill>
                  <a:srgbClr val="BDBDBD"/>
                </a:solidFill>
              </a:defRPr>
            </a:pPr>
            <a:r>
              <a:t>    Target: RFT backlog &lt; 100 at FF (down from 196)</a:t>
            </a:r>
          </a:p>
          <a:p>
            <a:pPr>
              <a:spcAft>
                <a:spcPts val="600"/>
              </a:spcAft>
              <a:defRPr sz="600" b="0">
                <a:solidFill>
                  <a:srgbClr val="FFFFFF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FFFFFF"/>
                </a:solidFill>
              </a:defRPr>
            </a:pPr>
            <a:r>
              <a:t>L5: Rajeev QA queue SLA: max 14 days in RFT</a:t>
            </a:r>
          </a:p>
          <a:p>
            <a:pPr>
              <a:spcAft>
                <a:spcPts val="600"/>
              </a:spcAft>
              <a:defRPr sz="1400" b="0">
                <a:solidFill>
                  <a:srgbClr val="BDBDBD"/>
                </a:solidFill>
              </a:defRPr>
            </a:pPr>
            <a:r>
              <a:t>    Current: 44d avg. Investigate QA capacity gap.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4EC5F1"/>
                </a:solidFill>
              </a:defRPr>
            </a:pPr>
            <a:r>
              <a:t>Jira Links — Click to Verify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600" b="1">
                <a:solidFill>
                  <a:srgbClr val="4EC5F1"/>
                </a:solidFill>
              </a:rPr>
              <a:t>Filters: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58A6FF"/>
                </a:solidFill>
                <a:hlinkClick r:id="rId2"/>
              </a:rPr>
              <a:t>  10.9 Dashboard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58A6FF"/>
                </a:solidFill>
                <a:hlinkClick r:id="rId3"/>
              </a:rPr>
              <a:t>  FF Breach (25 stories)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58A6FF"/>
                </a:solidFill>
                <a:hlinkClick r:id="rId4"/>
              </a:rPr>
              <a:t>  CF Breach Stories (36)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58A6FF"/>
                </a:solidFill>
                <a:hlinkClick r:id="rId5"/>
              </a:rPr>
              <a:t>  CF Breach Bugs (6)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300"/>
              </a:spcAft>
            </a:pPr>
            <a:r>
              <a:rPr sz="1600" b="1">
                <a:solidFill>
                  <a:srgbClr val="4EC5F1"/>
                </a:solidFill>
              </a:rPr>
              <a:t>Regressions per Squad: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58A6FF"/>
                </a:solidFill>
                <a:hlinkClick r:id="rId6"/>
              </a:rPr>
              <a:t>  Nils — 60 regressions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58A6FF"/>
                </a:solidFill>
                <a:hlinkClick r:id="rId7"/>
              </a:rPr>
              <a:t>  GreenBoat — 22 regressions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58A6FF"/>
                </a:solidFill>
                <a:hlinkClick r:id="rId8"/>
              </a:rPr>
              <a:t>  Cloud Compliance — 19 regressions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58A6FF"/>
                </a:solidFill>
                <a:hlinkClick r:id="rId9"/>
              </a:rPr>
              <a:t>  Driver — 11 regressions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58A6FF"/>
                </a:solidFill>
                <a:hlinkClick r:id="rId10"/>
              </a:rPr>
              <a:t>  VRA — 10 regressions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58A6FF"/>
                </a:solidFill>
                <a:hlinkClick r:id="rId11"/>
              </a:rPr>
              <a:t>  Azure — 8 regressions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58A6FF"/>
                </a:solidFill>
                <a:hlinkClick r:id="rId12"/>
              </a:rPr>
              <a:t>  Apex Legends — 8 regressions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58A6FF"/>
                </a:solidFill>
                <a:hlinkClick r:id="rId13"/>
              </a:rPr>
              <a:t>  Mavka — 5 regressions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58A6FF"/>
                </a:solidFill>
                <a:hlinkClick r:id="rId14"/>
              </a:rPr>
              <a:t>  AI Agents — 4 regressions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58A6FF"/>
                </a:solidFill>
                <a:hlinkClick r:id="rId15"/>
              </a:rPr>
              <a:t>  Opus — 4 regressions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58A6FF"/>
                </a:solidFill>
                <a:hlinkClick r:id="rId16"/>
              </a:rPr>
              <a:t>  Cyber Resilience — 1 regression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EC5F1"/>
                </a:solidFill>
              </a:defRPr>
            </a:pPr>
            <a:r>
              <a:t>Summary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 b="1">
                <a:solidFill>
                  <a:srgbClr val="4EC96F"/>
                </a:solidFill>
              </a:defRPr>
            </a:pPr>
            <a:r>
              <a:t>What went right:</a:t>
            </a:r>
          </a:p>
          <a:p>
            <a:pPr>
              <a:spcAft>
                <a:spcPts val="600"/>
              </a:spcAft>
              <a:defRPr sz="1600" b="0">
                <a:solidFill>
                  <a:srgbClr val="FFFFFF"/>
                </a:solidFill>
              </a:defRPr>
            </a:pPr>
            <a:r>
              <a:t>  FF improved (-32%), Dana CF 6→2, Rajeev FF 30→11</a:t>
            </a:r>
          </a:p>
          <a:p>
            <a:pPr>
              <a:spcAft>
                <a:spcPts val="600"/>
              </a:spcAft>
              <a:defRPr sz="800" b="0">
                <a:solidFill>
                  <a:srgbClr val="FFFFFF"/>
                </a:solidFill>
              </a:defRPr>
            </a:pPr>
          </a:p>
          <a:p>
            <a:pPr>
              <a:spcAft>
                <a:spcPts val="600"/>
              </a:spcAft>
              <a:defRPr sz="2200" b="1">
                <a:solidFill>
                  <a:srgbClr val="E74C3C"/>
                </a:solidFill>
              </a:defRPr>
            </a:pPr>
            <a:r>
              <a:t>What went wrong:</a:t>
            </a:r>
          </a:p>
          <a:p>
            <a:pPr>
              <a:spcAft>
                <a:spcPts val="600"/>
              </a:spcAft>
              <a:defRPr sz="1600" b="0">
                <a:solidFill>
                  <a:srgbClr val="FFFFFF"/>
                </a:solidFill>
              </a:defRPr>
            </a:pPr>
            <a:r>
              <a:t>  Regressions +204% (50→152), CF +57%, Automation rate dropped</a:t>
            </a:r>
          </a:p>
          <a:p>
            <a:pPr>
              <a:spcAft>
                <a:spcPts val="600"/>
              </a:spcAft>
              <a:defRPr sz="1600" b="0">
                <a:solidFill>
                  <a:srgbClr val="FFFFFF"/>
                </a:solidFill>
              </a:defRPr>
            </a:pPr>
            <a:r>
              <a:t>  6/8 improvements from 10.8 NOT addressed</a:t>
            </a:r>
          </a:p>
          <a:p>
            <a:pPr>
              <a:spcAft>
                <a:spcPts val="600"/>
              </a:spcAft>
              <a:defRPr sz="800" b="0">
                <a:solidFill>
                  <a:srgbClr val="FFFFFF"/>
                </a:solidFill>
              </a:defRPr>
            </a:pPr>
          </a:p>
          <a:p>
            <a:pPr>
              <a:spcAft>
                <a:spcPts val="600"/>
              </a:spcAft>
              <a:defRPr sz="2200" b="1">
                <a:solidFill>
                  <a:srgbClr val="F39C12"/>
                </a:solidFill>
              </a:defRPr>
            </a:pPr>
            <a:r>
              <a:t>Root causes:</a:t>
            </a:r>
          </a:p>
          <a:p>
            <a:pPr>
              <a:spcAft>
                <a:spcPts val="600"/>
              </a:spcAft>
              <a:defRPr sz="1600" b="0">
                <a:solidFill>
                  <a:srgbClr val="FFFFFF"/>
                </a:solidFill>
              </a:defRPr>
            </a:pPr>
            <a:r>
              <a:t>  React/Nils (60), Cloud Compliance (19), QA queue (Rajeev), late requirements</a:t>
            </a:r>
          </a:p>
          <a:p>
            <a:pPr>
              <a:spcAft>
                <a:spcPts val="600"/>
              </a:spcAft>
              <a:defRPr sz="800" b="0">
                <a:solidFill>
                  <a:srgbClr val="FFFFFF"/>
                </a:solidFill>
              </a:defRPr>
            </a:pPr>
          </a:p>
          <a:p>
            <a:pPr>
              <a:spcAft>
                <a:spcPts val="600"/>
              </a:spcAft>
              <a:defRPr sz="2200" b="1">
                <a:solidFill>
                  <a:srgbClr val="4EC5F1"/>
                </a:solidFill>
              </a:defRPr>
            </a:pPr>
            <a:r>
              <a:t>For 10.10 — non-negotiables:</a:t>
            </a:r>
          </a:p>
          <a:p>
            <a:pPr>
              <a:spcAft>
                <a:spcPts val="600"/>
              </a:spcAft>
              <a:defRPr sz="1600" b="0">
                <a:solidFill>
                  <a:srgbClr val="FFFFFF"/>
                </a:solidFill>
              </a:defRPr>
            </a:pPr>
            <a:r>
              <a:t>  1. No tweak activation after Sprint 5</a:t>
            </a:r>
          </a:p>
          <a:p>
            <a:pPr>
              <a:spcAft>
                <a:spcPts val="600"/>
              </a:spcAft>
              <a:defRPr sz="1600" b="0">
                <a:solidFill>
                  <a:srgbClr val="FFFFFF"/>
                </a:solidFill>
              </a:defRPr>
            </a:pPr>
            <a:r>
              <a:t>  2. RFT WIP limits enforced</a:t>
            </a:r>
          </a:p>
          <a:p>
            <a:pPr>
              <a:spcAft>
                <a:spcPts val="600"/>
              </a:spcAft>
              <a:defRPr sz="1600" b="0">
                <a:solidFill>
                  <a:srgbClr val="FFFFFF"/>
                </a:solidFill>
              </a:defRPr>
            </a:pPr>
            <a:r>
              <a:t>  3. Mid-release checkpoint at Sprint 4</a:t>
            </a:r>
          </a:p>
          <a:p>
            <a:pPr>
              <a:spcAft>
                <a:spcPts val="600"/>
              </a:spcAft>
              <a:defRPr sz="1600" b="0">
                <a:solidFill>
                  <a:srgbClr val="FFFFFF"/>
                </a:solidFill>
              </a:defRPr>
            </a:pPr>
            <a:r>
              <a:t>  4. QA capacity aligned to dev output (esp. Rajeev squads)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